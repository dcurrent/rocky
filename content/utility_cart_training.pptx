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32"/>
  </p:notesMasterIdLst>
  <p:sldIdLst>
    <p:sldId id="320" r:id="rId5"/>
    <p:sldId id="321" r:id="rId6"/>
    <p:sldId id="324" r:id="rId7"/>
    <p:sldId id="325" r:id="rId8"/>
    <p:sldId id="326" r:id="rId9"/>
    <p:sldId id="323" r:id="rId10"/>
    <p:sldId id="322" r:id="rId11"/>
    <p:sldId id="328" r:id="rId12"/>
    <p:sldId id="327" r:id="rId13"/>
    <p:sldId id="329" r:id="rId14"/>
    <p:sldId id="330" r:id="rId15"/>
    <p:sldId id="331" r:id="rId16"/>
    <p:sldId id="332" r:id="rId17"/>
    <p:sldId id="336" r:id="rId18"/>
    <p:sldId id="333" r:id="rId19"/>
    <p:sldId id="334" r:id="rId20"/>
    <p:sldId id="335" r:id="rId21"/>
    <p:sldId id="338" r:id="rId22"/>
    <p:sldId id="339" r:id="rId23"/>
    <p:sldId id="340" r:id="rId24"/>
    <p:sldId id="337" r:id="rId25"/>
    <p:sldId id="341" r:id="rId26"/>
    <p:sldId id="342" r:id="rId27"/>
    <p:sldId id="343" r:id="rId28"/>
    <p:sldId id="344" r:id="rId29"/>
    <p:sldId id="345" r:id="rId30"/>
    <p:sldId id="298"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B1A043-736E-EEC6-C0C8-9273D7CECD80}" v="60" dt="2020-01-14T16:16:17.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4" autoAdjust="0"/>
    <p:restoredTop sz="94627" autoAdjust="0"/>
  </p:normalViewPr>
  <p:slideViewPr>
    <p:cSldViewPr snapToGrid="0" snapToObjects="1">
      <p:cViewPr varScale="1">
        <p:scale>
          <a:sx n="86" d="100"/>
          <a:sy n="86" d="100"/>
        </p:scale>
        <p:origin x="210" y="4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88B995-43DC-4AF2-80C9-9ABD8768FB11}" type="datetimeFigureOut">
              <a:rPr lang="en-US" smtClean="0"/>
              <a:t>10/27/2020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3AB85-5804-4B8A-AC3C-C93FCA31BA56}" type="slidenum">
              <a:rPr lang="en-US" smtClean="0"/>
              <a:t>‹#›</a:t>
            </a:fld>
            <a:endParaRPr lang="en-US"/>
          </a:p>
        </p:txBody>
      </p:sp>
    </p:spTree>
    <p:extLst>
      <p:ext uri="{BB962C8B-B14F-4D97-AF65-F5344CB8AC3E}">
        <p14:creationId xmlns:p14="http://schemas.microsoft.com/office/powerpoint/2010/main" val="381108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239AB0-999C-4CB5-A738-F1329272F93F}" type="slidenum">
              <a:rPr lang="en-US" altLang="en-US"/>
              <a:pPr/>
              <a:t>1</a:t>
            </a:fld>
            <a:endParaRPr lang="en-US" altLang="en-US"/>
          </a:p>
        </p:txBody>
      </p:sp>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xfrm>
            <a:off x="914400" y="4343400"/>
            <a:ext cx="5029200" cy="4419600"/>
          </a:xfrm>
        </p:spPr>
        <p:txBody>
          <a:bodyPr/>
          <a:lstStyle/>
          <a:p>
            <a:r>
              <a:rPr lang="en-US" altLang="en-US" sz="1600" b="0" dirty="0"/>
              <a:t>Hell</a:t>
            </a:r>
            <a:r>
              <a:rPr lang="en-US" altLang="en-US" sz="1600" b="0" baseline="0" dirty="0"/>
              <a:t>o and Welcome.  This class is titled the Safe Use and Operation of Utility Carts.  The following training class is provided by University of Kentucky Occupational Health and Safety Department.   I am Michael Turner, Safety Specialist from Occupational Health and Safety.  </a:t>
            </a:r>
          </a:p>
          <a:p>
            <a:endParaRPr lang="en-US" altLang="en-US" sz="1600" b="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600" b="0" baseline="0" dirty="0"/>
              <a:t>As you know, driving a utility cart can be dangerous.  In the past, we have had several incidents with utility carts that have resulted in damage to equipment and injury to employees.  From these incidents, we have updated our written policy for utility carts along with training. </a:t>
            </a:r>
            <a:r>
              <a:rPr lang="en-US" sz="1200" kern="1200" dirty="0">
                <a:solidFill>
                  <a:schemeClr val="tx1"/>
                </a:solidFill>
                <a:effectLst/>
                <a:latin typeface="+mn-lt"/>
                <a:ea typeface="+mn-ea"/>
                <a:cs typeface="+mn-cs"/>
              </a:rPr>
              <a:t>The intent of the policy is to ensure safe operation and maintenance of these vehicles through the establishment of equipment standards, operation guidelines,</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registration procedures and training.</a:t>
            </a:r>
          </a:p>
          <a:p>
            <a:endParaRPr lang="en-US" altLang="en-US" sz="1600" b="0" baseline="0" dirty="0"/>
          </a:p>
        </p:txBody>
      </p:sp>
    </p:spTree>
    <p:extLst>
      <p:ext uri="{BB962C8B-B14F-4D97-AF65-F5344CB8AC3E}">
        <p14:creationId xmlns:p14="http://schemas.microsoft.com/office/powerpoint/2010/main" val="3015582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BFF72C-5352-4CCA-B352-72280EEB169B}" type="slidenum">
              <a:rPr lang="en-US" altLang="en-US"/>
              <a:pPr/>
              <a:t>2</a:t>
            </a:fld>
            <a:endParaRPr lang="en-US" alt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r>
              <a:rPr lang="en-US" altLang="en-US" dirty="0"/>
              <a:t>The training objectives</a:t>
            </a:r>
            <a:r>
              <a:rPr lang="en-US" altLang="en-US" baseline="0" dirty="0"/>
              <a:t> for this class are to </a:t>
            </a:r>
            <a:endParaRPr lang="en-US" altLang="en-US" dirty="0"/>
          </a:p>
        </p:txBody>
      </p:sp>
    </p:spTree>
    <p:extLst>
      <p:ext uri="{BB962C8B-B14F-4D97-AF65-F5344CB8AC3E}">
        <p14:creationId xmlns:p14="http://schemas.microsoft.com/office/powerpoint/2010/main" val="2292471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F24DEE-02E1-453C-AC80-1F5FE701F28D}" type="slidenum">
              <a:rPr lang="en-US" altLang="en-US"/>
              <a:pPr/>
              <a:t>3</a:t>
            </a:fld>
            <a:endParaRPr lang="en-US" alt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r>
              <a:rPr lang="en-US" altLang="en-US" dirty="0"/>
              <a:t>When operating</a:t>
            </a:r>
            <a:r>
              <a:rPr lang="en-US" altLang="en-US" baseline="0" dirty="0"/>
              <a:t> a utility cart on UKs campus the following guidelines must be met:  </a:t>
            </a:r>
            <a:endParaRPr lang="en-US" altLang="en-US" dirty="0"/>
          </a:p>
        </p:txBody>
      </p:sp>
    </p:spTree>
    <p:extLst>
      <p:ext uri="{BB962C8B-B14F-4D97-AF65-F5344CB8AC3E}">
        <p14:creationId xmlns:p14="http://schemas.microsoft.com/office/powerpoint/2010/main" val="4029921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4</a:t>
            </a:fld>
            <a:endParaRPr lang="en-US"/>
          </a:p>
        </p:txBody>
      </p:sp>
    </p:spTree>
    <p:extLst>
      <p:ext uri="{BB962C8B-B14F-4D97-AF65-F5344CB8AC3E}">
        <p14:creationId xmlns:p14="http://schemas.microsoft.com/office/powerpoint/2010/main" val="940988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5</a:t>
            </a:fld>
            <a:endParaRPr lang="en-US"/>
          </a:p>
        </p:txBody>
      </p:sp>
    </p:spTree>
    <p:extLst>
      <p:ext uri="{BB962C8B-B14F-4D97-AF65-F5344CB8AC3E}">
        <p14:creationId xmlns:p14="http://schemas.microsoft.com/office/powerpoint/2010/main" val="2855685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287FBB-0A36-44C0-8086-16E2A4B2E069}" type="slidenum">
              <a:rPr lang="en-US" altLang="en-US"/>
              <a:pPr/>
              <a:t>6</a:t>
            </a:fld>
            <a:endParaRPr lang="en-US" alt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801415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carts are equipped with different accessories.</a:t>
            </a:r>
            <a:r>
              <a:rPr lang="en-US" baseline="0" dirty="0"/>
              <a:t>  It is important to understand what accessories your cart has installed before use.  All UK cars must have the following equipment installed:  </a:t>
            </a:r>
          </a:p>
          <a:p>
            <a:pPr marL="171450" lvl="0" indent="-171450">
              <a:buFont typeface="Arial" pitchFamily="34" charset="0"/>
              <a:buChar char="•"/>
            </a:pPr>
            <a:r>
              <a:rPr lang="en-US" sz="1200" dirty="0">
                <a:solidFill>
                  <a:schemeClr val="bg1"/>
                </a:solidFill>
              </a:rPr>
              <a:t>Horn</a:t>
            </a:r>
          </a:p>
          <a:p>
            <a:pPr marL="171450" lvl="0" indent="-171450">
              <a:buFont typeface="Arial" pitchFamily="34" charset="0"/>
              <a:buChar char="•"/>
            </a:pPr>
            <a:r>
              <a:rPr lang="en-US" sz="1200" dirty="0">
                <a:solidFill>
                  <a:schemeClr val="bg1"/>
                </a:solidFill>
              </a:rPr>
              <a:t>Visual flashing warning device visible from 360 degrees</a:t>
            </a:r>
          </a:p>
          <a:p>
            <a:pPr marL="171450" lvl="0" indent="-171450">
              <a:buFont typeface="Arial" pitchFamily="34" charset="0"/>
              <a:buChar char="•"/>
            </a:pPr>
            <a:r>
              <a:rPr lang="en-US" sz="1200" dirty="0">
                <a:solidFill>
                  <a:schemeClr val="bg1"/>
                </a:solidFill>
              </a:rPr>
              <a:t>Reflective triangles displayed on the exterior rear of the cart and any trailer as near the center as practical</a:t>
            </a:r>
          </a:p>
          <a:p>
            <a:pPr marL="171450" lvl="0" indent="-171450">
              <a:buFont typeface="Arial" pitchFamily="34" charset="0"/>
              <a:buChar char="•"/>
            </a:pPr>
            <a:r>
              <a:rPr lang="en-US" sz="1200" dirty="0">
                <a:solidFill>
                  <a:schemeClr val="bg1"/>
                </a:solidFill>
              </a:rPr>
              <a:t>Ignition / on-off key to prevent unauthorized use</a:t>
            </a:r>
          </a:p>
          <a:p>
            <a:pPr marL="171450" lvl="0" indent="-171450">
              <a:buFont typeface="Arial" pitchFamily="34" charset="0"/>
              <a:buChar char="•"/>
            </a:pPr>
            <a:r>
              <a:rPr lang="en-US" sz="1200" dirty="0">
                <a:solidFill>
                  <a:schemeClr val="bg1"/>
                </a:solidFill>
              </a:rPr>
              <a:t>Parking brake with adequate strength to hold the cart </a:t>
            </a:r>
          </a:p>
          <a:p>
            <a:pPr marL="171450" lvl="0" indent="-171450">
              <a:buFont typeface="Arial" pitchFamily="34" charset="0"/>
              <a:buChar char="•"/>
            </a:pPr>
            <a:r>
              <a:rPr lang="en-US" sz="1200" dirty="0">
                <a:solidFill>
                  <a:schemeClr val="bg1"/>
                </a:solidFill>
              </a:rPr>
              <a:t>If operating during hours of limited visibility, headlamps and tail lamps are required.</a:t>
            </a:r>
          </a:p>
          <a:p>
            <a:pPr marL="171450" lvl="0" indent="-171450">
              <a:buFont typeface="Arial" pitchFamily="34" charset="0"/>
              <a:buChar char="•"/>
            </a:pPr>
            <a:r>
              <a:rPr lang="en-US" sz="1200" dirty="0">
                <a:solidFill>
                  <a:schemeClr val="bg1"/>
                </a:solidFill>
              </a:rPr>
              <a:t>Department name clearly marked on cart in at least two inch lettering</a:t>
            </a:r>
            <a:endParaRPr lang="en-US" baseline="0" dirty="0"/>
          </a:p>
          <a:p>
            <a:endParaRPr lang="en-US" baseline="0" dirty="0"/>
          </a:p>
          <a:p>
            <a:r>
              <a:rPr lang="en-US" baseline="0" dirty="0"/>
              <a:t>Also all installed equipment must always be in functioning order before use.  </a:t>
            </a:r>
          </a:p>
          <a:p>
            <a:endParaRPr lang="en-US" baseline="0" dirty="0"/>
          </a:p>
        </p:txBody>
      </p:sp>
      <p:sp>
        <p:nvSpPr>
          <p:cNvPr id="4" name="Slide Number Placeholder 3"/>
          <p:cNvSpPr>
            <a:spLocks noGrp="1"/>
          </p:cNvSpPr>
          <p:nvPr>
            <p:ph type="sldNum" sz="quarter" idx="10"/>
          </p:nvPr>
        </p:nvSpPr>
        <p:spPr/>
        <p:txBody>
          <a:bodyPr/>
          <a:lstStyle/>
          <a:p>
            <a:fld id="{8682F460-B1B1-4488-93DD-CA46FDAA85A9}" type="slidenum">
              <a:rPr lang="en-US" smtClean="0"/>
              <a:t>8</a:t>
            </a:fld>
            <a:endParaRPr lang="en-US"/>
          </a:p>
        </p:txBody>
      </p:sp>
    </p:spTree>
    <p:extLst>
      <p:ext uri="{BB962C8B-B14F-4D97-AF65-F5344CB8AC3E}">
        <p14:creationId xmlns:p14="http://schemas.microsoft.com/office/powerpoint/2010/main" val="2537544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a:t>
            </a:r>
            <a:r>
              <a:rPr lang="en-US" baseline="0" dirty="0"/>
              <a:t> discuss some general information about cart operation.  The cart operation information is taken directly from the UK Utility Cart Policy.  The following information should be taken into consideration when operation a utility cart.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10</a:t>
            </a:fld>
            <a:endParaRPr lang="en-US"/>
          </a:p>
        </p:txBody>
      </p:sp>
    </p:spTree>
    <p:extLst>
      <p:ext uri="{BB962C8B-B14F-4D97-AF65-F5344CB8AC3E}">
        <p14:creationId xmlns:p14="http://schemas.microsoft.com/office/powerpoint/2010/main" val="35002890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a:t>
            </a:r>
            <a:r>
              <a:rPr lang="en-US" baseline="0" dirty="0"/>
              <a:t> discuss some general information about cart operation.  The cart operation information is taken directly from the UK Utility Cart Policy.  The following information should be taken into consideration when operation a utility cart.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11</a:t>
            </a:fld>
            <a:endParaRPr lang="en-US"/>
          </a:p>
        </p:txBody>
      </p:sp>
    </p:spTree>
    <p:extLst>
      <p:ext uri="{BB962C8B-B14F-4D97-AF65-F5344CB8AC3E}">
        <p14:creationId xmlns:p14="http://schemas.microsoft.com/office/powerpoint/2010/main" val="742295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a:t>
            </a:r>
            <a:r>
              <a:rPr lang="en-US" baseline="0" dirty="0"/>
              <a:t> information taken from the UK utility cart policy.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12</a:t>
            </a:fld>
            <a:endParaRPr lang="en-US"/>
          </a:p>
        </p:txBody>
      </p:sp>
    </p:spTree>
    <p:extLst>
      <p:ext uri="{BB962C8B-B14F-4D97-AF65-F5344CB8AC3E}">
        <p14:creationId xmlns:p14="http://schemas.microsoft.com/office/powerpoint/2010/main" val="6947846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a:t>
            </a:r>
            <a:r>
              <a:rPr lang="en-US" baseline="0" dirty="0"/>
              <a:t> information taken from the UK utility cart policy.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13</a:t>
            </a:fld>
            <a:endParaRPr lang="en-US"/>
          </a:p>
        </p:txBody>
      </p:sp>
    </p:spTree>
    <p:extLst>
      <p:ext uri="{BB962C8B-B14F-4D97-AF65-F5344CB8AC3E}">
        <p14:creationId xmlns:p14="http://schemas.microsoft.com/office/powerpoint/2010/main" val="3594043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leaving </a:t>
            </a:r>
            <a:r>
              <a:rPr lang="en-US" baseline="0" dirty="0"/>
              <a:t>the vehicle unattended you should always keep the following things in mind:</a:t>
            </a:r>
          </a:p>
          <a:p>
            <a:endParaRPr lang="en-US" baseline="0" dirty="0"/>
          </a:p>
          <a:p>
            <a:pPr>
              <a:lnSpc>
                <a:spcPct val="90000"/>
              </a:lnSpc>
            </a:pPr>
            <a:r>
              <a:rPr lang="en-US" dirty="0">
                <a:solidFill>
                  <a:schemeClr val="bg1"/>
                </a:solidFill>
              </a:rPr>
              <a:t>Do not dismount vehicle before it has come to a complete stop</a:t>
            </a:r>
          </a:p>
          <a:p>
            <a:pPr>
              <a:lnSpc>
                <a:spcPct val="90000"/>
              </a:lnSpc>
            </a:pPr>
            <a:r>
              <a:rPr lang="en-US" dirty="0">
                <a:solidFill>
                  <a:schemeClr val="bg1"/>
                </a:solidFill>
              </a:rPr>
              <a:t>Engage the brake</a:t>
            </a:r>
          </a:p>
          <a:p>
            <a:pPr>
              <a:lnSpc>
                <a:spcPct val="90000"/>
              </a:lnSpc>
            </a:pPr>
            <a:r>
              <a:rPr lang="en-US" dirty="0">
                <a:solidFill>
                  <a:schemeClr val="bg1"/>
                </a:solidFill>
              </a:rPr>
              <a:t>Turn off the engine</a:t>
            </a:r>
          </a:p>
          <a:p>
            <a:pPr>
              <a:lnSpc>
                <a:spcPct val="90000"/>
              </a:lnSpc>
            </a:pPr>
            <a:r>
              <a:rPr lang="en-US" dirty="0">
                <a:solidFill>
                  <a:schemeClr val="bg1"/>
                </a:solidFill>
              </a:rPr>
              <a:t>Take the key</a:t>
            </a:r>
          </a:p>
          <a:p>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15</a:t>
            </a:fld>
            <a:endParaRPr lang="en-US"/>
          </a:p>
        </p:txBody>
      </p:sp>
    </p:spTree>
    <p:extLst>
      <p:ext uri="{BB962C8B-B14F-4D97-AF65-F5344CB8AC3E}">
        <p14:creationId xmlns:p14="http://schemas.microsoft.com/office/powerpoint/2010/main" val="1963424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Hopefully</a:t>
            </a:r>
            <a:r>
              <a:rPr lang="en-US" baseline="0" dirty="0"/>
              <a:t> you never have an accident while working at UK or operating a utility cart.  However if you do we have some specific procedure that need to be followed to ensure the accident has been reported properly.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16</a:t>
            </a:fld>
            <a:endParaRPr lang="en-US"/>
          </a:p>
        </p:txBody>
      </p:sp>
    </p:spTree>
    <p:extLst>
      <p:ext uri="{BB962C8B-B14F-4D97-AF65-F5344CB8AC3E}">
        <p14:creationId xmlns:p14="http://schemas.microsoft.com/office/powerpoint/2010/main" val="1328156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to cart maintenance…..Departments are also responsible</a:t>
            </a:r>
            <a:r>
              <a:rPr lang="en-US" baseline="0" dirty="0"/>
              <a:t> for cart storage.  </a:t>
            </a:r>
          </a:p>
          <a:p>
            <a:endParaRPr lang="en-US" baseline="0" dirty="0"/>
          </a:p>
          <a:p>
            <a:r>
              <a:rPr lang="en-US" baseline="0" dirty="0"/>
              <a:t>Any questions about gasoline storage shall be directed to the UK Fire Marshal’s Office.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17</a:t>
            </a:fld>
            <a:endParaRPr lang="en-US"/>
          </a:p>
        </p:txBody>
      </p:sp>
    </p:spTree>
    <p:extLst>
      <p:ext uri="{BB962C8B-B14F-4D97-AF65-F5344CB8AC3E}">
        <p14:creationId xmlns:p14="http://schemas.microsoft.com/office/powerpoint/2010/main" val="37826788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for cart maintenance….All departments are responsible for their carts, whether that be repairs/regular maintenance or service checks.  </a:t>
            </a:r>
          </a:p>
          <a:p>
            <a:endParaRPr lang="en-US" baseline="0" dirty="0"/>
          </a:p>
          <a:p>
            <a:r>
              <a:rPr lang="en-US" baseline="0" dirty="0"/>
              <a:t>Operators are responsible for performing a quick pre safety check on all utility carts prior to operation.</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18</a:t>
            </a:fld>
            <a:endParaRPr lang="en-US"/>
          </a:p>
        </p:txBody>
      </p:sp>
    </p:spTree>
    <p:extLst>
      <p:ext uri="{BB962C8B-B14F-4D97-AF65-F5344CB8AC3E}">
        <p14:creationId xmlns:p14="http://schemas.microsoft.com/office/powerpoint/2010/main" val="12105370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a:t>
            </a:r>
            <a:r>
              <a:rPr lang="en-US" baseline="0" dirty="0"/>
              <a:t> discussed previously, at UK we have many different types of carts on campus.  So no matter what type of vehicle you are driving you should always </a:t>
            </a:r>
          </a:p>
          <a:p>
            <a:pPr marL="285750" indent="-285750">
              <a:lnSpc>
                <a:spcPct val="90000"/>
              </a:lnSpc>
              <a:buFont typeface="Arial" pitchFamily="34" charset="0"/>
              <a:buChar char="•"/>
            </a:pPr>
            <a:r>
              <a:rPr lang="en-US" sz="1200" dirty="0">
                <a:solidFill>
                  <a:schemeClr val="bg1"/>
                </a:solidFill>
              </a:rPr>
              <a:t>Do a pre-trip check</a:t>
            </a:r>
          </a:p>
          <a:p>
            <a:pPr marL="285750" indent="-285750">
              <a:lnSpc>
                <a:spcPct val="90000"/>
              </a:lnSpc>
              <a:buFont typeface="Arial" pitchFamily="34" charset="0"/>
              <a:buChar char="•"/>
            </a:pPr>
            <a:r>
              <a:rPr lang="en-US" sz="1200" dirty="0">
                <a:solidFill>
                  <a:schemeClr val="bg1"/>
                </a:solidFill>
              </a:rPr>
              <a:t>Review how the vehicle operates BEFORE you turn it on</a:t>
            </a:r>
          </a:p>
          <a:p>
            <a:pPr marL="285750" indent="-285750">
              <a:lnSpc>
                <a:spcPct val="90000"/>
              </a:lnSpc>
              <a:buFont typeface="Arial" pitchFamily="34" charset="0"/>
              <a:buChar char="•"/>
            </a:pPr>
            <a:r>
              <a:rPr lang="en-US" sz="1200" dirty="0">
                <a:solidFill>
                  <a:schemeClr val="bg1"/>
                </a:solidFill>
              </a:rPr>
              <a:t>Know your vehicle</a:t>
            </a:r>
          </a:p>
          <a:p>
            <a:pPr marL="285750" indent="-285750">
              <a:lnSpc>
                <a:spcPct val="90000"/>
              </a:lnSpc>
              <a:buFont typeface="Arial" pitchFamily="34" charset="0"/>
              <a:buChar char="•"/>
            </a:pPr>
            <a:r>
              <a:rPr lang="en-US" sz="1200" dirty="0">
                <a:solidFill>
                  <a:schemeClr val="bg1"/>
                </a:solidFill>
              </a:rPr>
              <a:t>If something is broken, </a:t>
            </a:r>
            <a:r>
              <a:rPr lang="en-US" sz="1200" b="1" dirty="0">
                <a:solidFill>
                  <a:schemeClr val="bg1"/>
                </a:solidFill>
              </a:rPr>
              <a:t>DON’T</a:t>
            </a:r>
            <a:r>
              <a:rPr lang="en-US" sz="1200" dirty="0">
                <a:solidFill>
                  <a:schemeClr val="bg1"/>
                </a:solidFill>
              </a:rPr>
              <a:t> use it until it’s fixed!</a:t>
            </a:r>
          </a:p>
          <a:p>
            <a:pPr marL="285750" indent="-285750">
              <a:lnSpc>
                <a:spcPct val="90000"/>
              </a:lnSpc>
              <a:buFont typeface="Arial" pitchFamily="34" charset="0"/>
              <a:buChar char="•"/>
            </a:pPr>
            <a:r>
              <a:rPr lang="en-US" sz="1200" dirty="0">
                <a:solidFill>
                  <a:schemeClr val="bg1"/>
                </a:solidFill>
              </a:rPr>
              <a:t>Parking brake must be set when not in transit.</a:t>
            </a:r>
          </a:p>
          <a:p>
            <a:pPr marL="285750" indent="-285750">
              <a:lnSpc>
                <a:spcPct val="90000"/>
              </a:lnSpc>
              <a:buFont typeface="Arial" pitchFamily="34" charset="0"/>
              <a:buChar char="•"/>
            </a:pPr>
            <a:r>
              <a:rPr lang="en-US" sz="1200" dirty="0">
                <a:solidFill>
                  <a:schemeClr val="bg1"/>
                </a:solidFill>
              </a:rPr>
              <a:t>Operate vehicle at a speed that will permit it to be brought to a stop in a safe manner</a:t>
            </a:r>
          </a:p>
          <a:p>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21</a:t>
            </a:fld>
            <a:endParaRPr lang="en-US"/>
          </a:p>
        </p:txBody>
      </p:sp>
    </p:spTree>
    <p:extLst>
      <p:ext uri="{BB962C8B-B14F-4D97-AF65-F5344CB8AC3E}">
        <p14:creationId xmlns:p14="http://schemas.microsoft.com/office/powerpoint/2010/main" val="1446015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22</a:t>
            </a:fld>
            <a:endParaRPr lang="en-US"/>
          </a:p>
        </p:txBody>
      </p:sp>
    </p:spTree>
    <p:extLst>
      <p:ext uri="{BB962C8B-B14F-4D97-AF65-F5344CB8AC3E}">
        <p14:creationId xmlns:p14="http://schemas.microsoft.com/office/powerpoint/2010/main" val="1756980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any</a:t>
            </a:r>
            <a:r>
              <a:rPr lang="en-US" baseline="0" dirty="0"/>
              <a:t> questions about the written UK utility cart policy or about the training please send me an email or  give me </a:t>
            </a:r>
            <a:r>
              <a:rPr lang="en-US" baseline="0"/>
              <a:t>a call.  </a:t>
            </a:r>
            <a:endParaRPr lang="en-US" baseline="0" dirty="0"/>
          </a:p>
          <a:p>
            <a:endParaRPr lang="en-US" baseline="0" dirty="0"/>
          </a:p>
          <a:p>
            <a:r>
              <a:rPr lang="en-US" baseline="0" dirty="0"/>
              <a:t>Thank You.  </a:t>
            </a:r>
            <a:endParaRPr lang="en-US" dirty="0"/>
          </a:p>
        </p:txBody>
      </p:sp>
      <p:sp>
        <p:nvSpPr>
          <p:cNvPr id="4" name="Slide Number Placeholder 3"/>
          <p:cNvSpPr>
            <a:spLocks noGrp="1"/>
          </p:cNvSpPr>
          <p:nvPr>
            <p:ph type="sldNum" sz="quarter" idx="10"/>
          </p:nvPr>
        </p:nvSpPr>
        <p:spPr/>
        <p:txBody>
          <a:bodyPr/>
          <a:lstStyle/>
          <a:p>
            <a:fld id="{8682F460-B1B1-4488-93DD-CA46FDAA85A9}" type="slidenum">
              <a:rPr lang="en-US" smtClean="0"/>
              <a:t>26</a:t>
            </a:fld>
            <a:endParaRPr lang="en-US"/>
          </a:p>
        </p:txBody>
      </p:sp>
    </p:spTree>
    <p:extLst>
      <p:ext uri="{BB962C8B-B14F-4D97-AF65-F5344CB8AC3E}">
        <p14:creationId xmlns:p14="http://schemas.microsoft.com/office/powerpoint/2010/main" val="4123281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At UK safety begins with you!</a:t>
            </a:r>
          </a:p>
        </p:txBody>
      </p:sp>
      <p:sp>
        <p:nvSpPr>
          <p:cNvPr id="4" name="Slide Number Placeholder 3"/>
          <p:cNvSpPr>
            <a:spLocks noGrp="1"/>
          </p:cNvSpPr>
          <p:nvPr>
            <p:ph type="sldNum" sz="quarter" idx="10"/>
          </p:nvPr>
        </p:nvSpPr>
        <p:spPr/>
        <p:txBody>
          <a:bodyPr/>
          <a:lstStyle/>
          <a:p>
            <a:fld id="{4EF3AB85-5804-4B8A-AC3C-C93FCA31BA56}" type="slidenum">
              <a:rPr lang="en-US" smtClean="0"/>
              <a:t>27</a:t>
            </a:fld>
            <a:endParaRPr lang="en-US"/>
          </a:p>
        </p:txBody>
      </p:sp>
    </p:spTree>
    <p:extLst>
      <p:ext uri="{BB962C8B-B14F-4D97-AF65-F5344CB8AC3E}">
        <p14:creationId xmlns:p14="http://schemas.microsoft.com/office/powerpoint/2010/main" val="40511897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3" descr="Standard-Slid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364956" y="1551815"/>
            <a:ext cx="8364817" cy="1470025"/>
          </a:xfrm>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296946"/>
            <a:ext cx="6400800" cy="1106334"/>
          </a:xfrm>
        </p:spPr>
        <p:txBody>
          <a:bodyPr/>
          <a:lstStyle>
            <a:lvl1pPr marL="0" indent="0" algn="ctr">
              <a:buNone/>
              <a:defRPr>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728351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5" name="Picture 4" descr="Standard-Slid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364956" y="1551815"/>
            <a:ext cx="8364817" cy="1470025"/>
          </a:xfrm>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296946"/>
            <a:ext cx="6400800" cy="1106334"/>
          </a:xfrm>
        </p:spPr>
        <p:txBody>
          <a:bodyPr/>
          <a:lstStyle>
            <a:lvl1pPr marL="0" indent="0" algn="ctr">
              <a:buNone/>
              <a:defRPr>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439354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5" name="Picture 4" descr="Standard-Slide-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364956" y="1551815"/>
            <a:ext cx="8364817" cy="1470025"/>
          </a:xfrm>
        </p:spPr>
        <p:txBody>
          <a:bodyPr/>
          <a:lstStyle>
            <a:lvl1pPr>
              <a:defRPr>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296946"/>
            <a:ext cx="6400800" cy="1106334"/>
          </a:xfrm>
        </p:spPr>
        <p:txBody>
          <a:bodyPr/>
          <a:lstStyle>
            <a:lvl1pPr marL="0" indent="0" algn="ctr">
              <a:buNone/>
              <a:defRPr>
                <a:solidFill>
                  <a:schemeClr val="accent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439354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866167" y="274638"/>
            <a:ext cx="6820632"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1866166" y="1600200"/>
            <a:ext cx="6820633"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2038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4" name="Picture 3"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45586" y="274638"/>
            <a:ext cx="8341213"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45586" y="1600200"/>
            <a:ext cx="8341213"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5098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pic>
        <p:nvPicPr>
          <p:cNvPr id="5" name="Picture 4"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45586" y="274638"/>
            <a:ext cx="8341213" cy="1143000"/>
          </a:xfrm>
        </p:spPr>
        <p:txBody>
          <a:bodyPr>
            <a:no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45586" y="1600200"/>
            <a:ext cx="8341213" cy="4525963"/>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00914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pic>
        <p:nvPicPr>
          <p:cNvPr id="5" name="Picture 4"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866167" y="274638"/>
            <a:ext cx="6820632" cy="1143000"/>
          </a:xfrm>
        </p:spPr>
        <p:txBody>
          <a:bodyPr>
            <a:noAutofit/>
          </a:bodyPr>
          <a:lstStyle>
            <a:lvl1pPr>
              <a:defRPr sz="3600">
                <a:solidFill>
                  <a:srgbClr val="000000"/>
                </a:solidFill>
              </a:defRPr>
            </a:lvl1pPr>
          </a:lstStyle>
          <a:p>
            <a:r>
              <a:rPr lang="en-US"/>
              <a:t>Click to edit Master title style</a:t>
            </a:r>
            <a:endParaRPr lang="en-US" dirty="0"/>
          </a:p>
        </p:txBody>
      </p:sp>
      <p:sp>
        <p:nvSpPr>
          <p:cNvPr id="3" name="Content Placeholder 2"/>
          <p:cNvSpPr>
            <a:spLocks noGrp="1"/>
          </p:cNvSpPr>
          <p:nvPr>
            <p:ph idx="1"/>
          </p:nvPr>
        </p:nvSpPr>
        <p:spPr>
          <a:xfrm>
            <a:off x="328308" y="1600200"/>
            <a:ext cx="8358492" cy="452596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48739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pic>
        <p:nvPicPr>
          <p:cNvPr id="4" name="Picture 3"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866167" y="274638"/>
            <a:ext cx="6820632" cy="1143000"/>
          </a:xfrm>
        </p:spPr>
        <p:txBody>
          <a:bodyPr>
            <a:noAutofit/>
          </a:bodyPr>
          <a:lstStyle>
            <a:lvl1pPr>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28308" y="1600200"/>
            <a:ext cx="8358492" cy="4525963"/>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10653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pic>
        <p:nvPicPr>
          <p:cNvPr id="5" name="Picture 4"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45586" y="274638"/>
            <a:ext cx="8341213"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45586" y="1600200"/>
            <a:ext cx="8341213"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043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pic>
        <p:nvPicPr>
          <p:cNvPr id="5" name="Picture 4"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45586" y="274638"/>
            <a:ext cx="8341213" cy="1143000"/>
          </a:xfrm>
        </p:spPr>
        <p:txBody>
          <a:bodyPr>
            <a:noAutofit/>
          </a:bodyPr>
          <a:lstStyle>
            <a:lvl1pPr>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5586" y="1600200"/>
            <a:ext cx="8341213" cy="45259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0043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952563" y="274638"/>
            <a:ext cx="6734236"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sz="half" idx="1"/>
          </p:nvPr>
        </p:nvSpPr>
        <p:spPr>
          <a:xfrm>
            <a:off x="1978508" y="1600200"/>
            <a:ext cx="3199851"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86184" y="1600200"/>
            <a:ext cx="3200616"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605946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pic>
        <p:nvPicPr>
          <p:cNvPr id="5" name="Picture 4"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8152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pic>
        <p:nvPicPr>
          <p:cNvPr id="5" name="Picture 4"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solidFill>
                  <a:srgbClr val="FFFFFF"/>
                </a:solidFill>
              </a:defRPr>
            </a:lvl1pPr>
            <a:lvl2pPr>
              <a:defRPr sz="2400">
                <a:solidFill>
                  <a:srgbClr val="FFFFFF"/>
                </a:solidFill>
              </a:defRPr>
            </a:lvl2pPr>
            <a:lvl3pPr>
              <a:defRPr sz="2000">
                <a:solidFill>
                  <a:srgbClr val="FFFFFF"/>
                </a:solidFill>
              </a:defRPr>
            </a:lvl3pPr>
            <a:lvl4pPr>
              <a:defRPr sz="1800">
                <a:solidFill>
                  <a:srgbClr val="FFFFFF"/>
                </a:solidFill>
              </a:defRPr>
            </a:lvl4pPr>
            <a:lvl5pPr>
              <a:defRPr sz="1800">
                <a:solidFill>
                  <a:srgbClr val="FFFFFF"/>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800">
                <a:solidFill>
                  <a:srgbClr val="FFFFFF"/>
                </a:solidFill>
              </a:defRPr>
            </a:lvl1pPr>
            <a:lvl2pPr>
              <a:defRPr sz="2400">
                <a:solidFill>
                  <a:srgbClr val="FFFFFF"/>
                </a:solidFill>
              </a:defRPr>
            </a:lvl2pPr>
            <a:lvl3pPr>
              <a:defRPr sz="2000">
                <a:solidFill>
                  <a:srgbClr val="FFFFFF"/>
                </a:solidFill>
              </a:defRPr>
            </a:lvl3pPr>
            <a:lvl4pPr>
              <a:defRPr sz="1800">
                <a:solidFill>
                  <a:srgbClr val="FFFFFF"/>
                </a:solidFill>
              </a:defRPr>
            </a:lvl4pPr>
            <a:lvl5pPr>
              <a:defRPr sz="1800">
                <a:solidFill>
                  <a:srgbClr val="FFFFFF"/>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881528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3_Two Content">
    <p:spTree>
      <p:nvGrpSpPr>
        <p:cNvPr id="1" name=""/>
        <p:cNvGrpSpPr/>
        <p:nvPr/>
      </p:nvGrpSpPr>
      <p:grpSpPr>
        <a:xfrm>
          <a:off x="0" y="0"/>
          <a:ext cx="0" cy="0"/>
          <a:chOff x="0" y="0"/>
          <a:chExt cx="0" cy="0"/>
        </a:xfrm>
      </p:grpSpPr>
      <p:pic>
        <p:nvPicPr>
          <p:cNvPr id="5" name="Picture 4"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29896" y="274638"/>
            <a:ext cx="6956903"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81528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4_Two Content">
    <p:spTree>
      <p:nvGrpSpPr>
        <p:cNvPr id="1" name=""/>
        <p:cNvGrpSpPr/>
        <p:nvPr/>
      </p:nvGrpSpPr>
      <p:grpSpPr>
        <a:xfrm>
          <a:off x="0" y="0"/>
          <a:ext cx="0" cy="0"/>
          <a:chOff x="0" y="0"/>
          <a:chExt cx="0" cy="0"/>
        </a:xfrm>
      </p:grpSpPr>
      <p:pic>
        <p:nvPicPr>
          <p:cNvPr id="5" name="Picture 4"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29896" y="283278"/>
            <a:ext cx="6956903" cy="1143000"/>
          </a:xfrm>
        </p:spPr>
        <p:txBody>
          <a:bodyPr>
            <a:noAutofit/>
          </a:bodyPr>
          <a:lstStyle>
            <a:lvl1pPr>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8840"/>
            <a:ext cx="4038600" cy="4525963"/>
          </a:xfrm>
        </p:spPr>
        <p:txBody>
          <a:bodyPr/>
          <a:lstStyle>
            <a:lvl1pPr>
              <a:defRPr sz="2800">
                <a:solidFill>
                  <a:srgbClr val="FFFFFF"/>
                </a:solidFill>
              </a:defRPr>
            </a:lvl1pPr>
            <a:lvl2pPr>
              <a:defRPr sz="2400">
                <a:solidFill>
                  <a:srgbClr val="FFFFFF"/>
                </a:solidFill>
              </a:defRPr>
            </a:lvl2pPr>
            <a:lvl3pPr>
              <a:defRPr sz="2000">
                <a:solidFill>
                  <a:srgbClr val="FFFFFF"/>
                </a:solidFill>
              </a:defRPr>
            </a:lvl3pPr>
            <a:lvl4pPr>
              <a:defRPr sz="1800">
                <a:solidFill>
                  <a:srgbClr val="FFFFFF"/>
                </a:solidFill>
              </a:defRPr>
            </a:lvl4pPr>
            <a:lvl5pPr>
              <a:defRPr sz="1800">
                <a:solidFill>
                  <a:srgbClr val="FFFFFF"/>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8840"/>
            <a:ext cx="4038600" cy="4525963"/>
          </a:xfrm>
        </p:spPr>
        <p:txBody>
          <a:bodyPr/>
          <a:lstStyle>
            <a:lvl1pPr>
              <a:defRPr sz="2800">
                <a:solidFill>
                  <a:srgbClr val="FFFFFF"/>
                </a:solidFill>
              </a:defRPr>
            </a:lvl1pPr>
            <a:lvl2pPr>
              <a:defRPr sz="2400">
                <a:solidFill>
                  <a:srgbClr val="FFFFFF"/>
                </a:solidFill>
              </a:defRPr>
            </a:lvl2pPr>
            <a:lvl3pPr>
              <a:defRPr sz="2000">
                <a:solidFill>
                  <a:srgbClr val="FFFFFF"/>
                </a:solidFill>
              </a:defRPr>
            </a:lvl3pPr>
            <a:lvl4pPr>
              <a:defRPr sz="1800">
                <a:solidFill>
                  <a:srgbClr val="FFFFFF"/>
                </a:solidFill>
              </a:defRPr>
            </a:lvl4pPr>
            <a:lvl5pPr>
              <a:defRPr sz="1800">
                <a:solidFill>
                  <a:srgbClr val="FFFFFF"/>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8152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5_Two Content">
    <p:spTree>
      <p:nvGrpSpPr>
        <p:cNvPr id="1" name=""/>
        <p:cNvGrpSpPr/>
        <p:nvPr/>
      </p:nvGrpSpPr>
      <p:grpSpPr>
        <a:xfrm>
          <a:off x="0" y="0"/>
          <a:ext cx="0" cy="0"/>
          <a:chOff x="0" y="0"/>
          <a:chExt cx="0" cy="0"/>
        </a:xfrm>
      </p:grpSpPr>
      <p:pic>
        <p:nvPicPr>
          <p:cNvPr id="5" name="Picture 4"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81528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6_Two Content">
    <p:spTree>
      <p:nvGrpSpPr>
        <p:cNvPr id="1" name=""/>
        <p:cNvGrpSpPr/>
        <p:nvPr/>
      </p:nvGrpSpPr>
      <p:grpSpPr>
        <a:xfrm>
          <a:off x="0" y="0"/>
          <a:ext cx="0" cy="0"/>
          <a:chOff x="0" y="0"/>
          <a:chExt cx="0" cy="0"/>
        </a:xfrm>
      </p:grpSpPr>
      <p:pic>
        <p:nvPicPr>
          <p:cNvPr id="5" name="Picture 4"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defRPr sz="2800">
                <a:solidFill>
                  <a:srgbClr val="FFFFFF"/>
                </a:solidFill>
              </a:defRPr>
            </a:lvl1pPr>
            <a:lvl2pPr>
              <a:defRPr sz="2400">
                <a:solidFill>
                  <a:srgbClr val="FFFFFF"/>
                </a:solidFill>
              </a:defRPr>
            </a:lvl2pPr>
            <a:lvl3pPr>
              <a:defRPr sz="2000">
                <a:solidFill>
                  <a:srgbClr val="FFFFFF"/>
                </a:solidFill>
              </a:defRPr>
            </a:lvl3pPr>
            <a:lvl4pPr>
              <a:defRPr sz="1800">
                <a:solidFill>
                  <a:srgbClr val="FFFFFF"/>
                </a:solidFill>
              </a:defRPr>
            </a:lvl4pPr>
            <a:lvl5pPr>
              <a:defRPr sz="1800">
                <a:solidFill>
                  <a:srgbClr val="FFFFFF"/>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800">
                <a:solidFill>
                  <a:srgbClr val="FFFFFF"/>
                </a:solidFill>
              </a:defRPr>
            </a:lvl1pPr>
            <a:lvl2pPr>
              <a:defRPr sz="2400">
                <a:solidFill>
                  <a:srgbClr val="FFFFFF"/>
                </a:solidFill>
              </a:defRPr>
            </a:lvl2pPr>
            <a:lvl3pPr>
              <a:defRPr sz="2000">
                <a:solidFill>
                  <a:srgbClr val="FFFFFF"/>
                </a:solidFill>
              </a:defRPr>
            </a:lvl3pPr>
            <a:lvl4pPr>
              <a:defRPr sz="1800">
                <a:solidFill>
                  <a:srgbClr val="FFFFFF"/>
                </a:solidFill>
              </a:defRPr>
            </a:lvl4pPr>
            <a:lvl5pPr>
              <a:defRPr sz="1800">
                <a:solidFill>
                  <a:srgbClr val="FFFFFF"/>
                </a:solidFill>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8152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1" name="Picture 10"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952563" y="274638"/>
            <a:ext cx="6734236" cy="1143000"/>
          </a:xfrm>
        </p:spPr>
        <p:txBody>
          <a:bodyPr>
            <a:no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961200" y="1535113"/>
            <a:ext cx="3192799" cy="639762"/>
          </a:xfrm>
        </p:spPr>
        <p:txBody>
          <a:bodyPr anchor="b">
            <a:normAutofit/>
          </a:bodyPr>
          <a:lstStyle>
            <a:lvl1pPr marL="0" indent="0">
              <a:buNone/>
              <a:defRPr sz="2000" b="1" i="0">
                <a:solidFill>
                  <a:schemeClr val="accent4"/>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961200" y="2174875"/>
            <a:ext cx="319279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486184" y="1535113"/>
            <a:ext cx="3200616" cy="639762"/>
          </a:xfrm>
        </p:spPr>
        <p:txBody>
          <a:bodyPr anchor="b">
            <a:normAutofit/>
          </a:bodyPr>
          <a:lstStyle>
            <a:lvl1pPr marL="0" indent="0">
              <a:buNone/>
              <a:defRPr sz="2000" b="1" i="0">
                <a:solidFill>
                  <a:srgbClr val="4A4D4D"/>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486184" y="2174875"/>
            <a:ext cx="32006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868244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pic>
        <p:nvPicPr>
          <p:cNvPr id="7" name="Picture 6"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i="0">
                <a:solidFill>
                  <a:srgbClr val="4A4D4D"/>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i="0">
                <a:solidFill>
                  <a:srgbClr val="4A4D4D"/>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6979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2_Comparison">
    <p:spTree>
      <p:nvGrpSpPr>
        <p:cNvPr id="1" name=""/>
        <p:cNvGrpSpPr/>
        <p:nvPr/>
      </p:nvGrpSpPr>
      <p:grpSpPr>
        <a:xfrm>
          <a:off x="0" y="0"/>
          <a:ext cx="0" cy="0"/>
          <a:chOff x="0" y="0"/>
          <a:chExt cx="0" cy="0"/>
        </a:xfrm>
      </p:grpSpPr>
      <p:pic>
        <p:nvPicPr>
          <p:cNvPr id="7" name="Picture 6"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i="0">
                <a:solidFill>
                  <a:schemeClr val="bg1"/>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i="0">
                <a:solidFill>
                  <a:schemeClr val="bg1"/>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697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3_Comparison">
    <p:spTree>
      <p:nvGrpSpPr>
        <p:cNvPr id="1" name=""/>
        <p:cNvGrpSpPr/>
        <p:nvPr/>
      </p:nvGrpSpPr>
      <p:grpSpPr>
        <a:xfrm>
          <a:off x="0" y="0"/>
          <a:ext cx="0" cy="0"/>
          <a:chOff x="0" y="0"/>
          <a:chExt cx="0" cy="0"/>
        </a:xfrm>
      </p:grpSpPr>
      <p:pic>
        <p:nvPicPr>
          <p:cNvPr id="7" name="Picture 6"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22596" y="274638"/>
            <a:ext cx="6964203" cy="1143000"/>
          </a:xfrm>
        </p:spPr>
        <p:txBody>
          <a:bodyPr>
            <a:no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i="0">
                <a:solidFill>
                  <a:srgbClr val="4A4D4D"/>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i="0">
                <a:solidFill>
                  <a:srgbClr val="4A4D4D"/>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6979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4_Comparison">
    <p:spTree>
      <p:nvGrpSpPr>
        <p:cNvPr id="1" name=""/>
        <p:cNvGrpSpPr/>
        <p:nvPr/>
      </p:nvGrpSpPr>
      <p:grpSpPr>
        <a:xfrm>
          <a:off x="0" y="0"/>
          <a:ext cx="0" cy="0"/>
          <a:chOff x="0" y="0"/>
          <a:chExt cx="0" cy="0"/>
        </a:xfrm>
      </p:grpSpPr>
      <p:pic>
        <p:nvPicPr>
          <p:cNvPr id="7" name="Picture 6"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22596" y="274638"/>
            <a:ext cx="6964203" cy="1143000"/>
          </a:xfrm>
        </p:spPr>
        <p:txBody>
          <a:bodyPr>
            <a:noAutofit/>
          </a:bodyPr>
          <a:lstStyle>
            <a:lvl1pPr>
              <a:defRPr sz="3600">
                <a:solidFill>
                  <a:srgbClr val="FFFF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i="0">
                <a:solidFill>
                  <a:srgbClr val="FFFFFF"/>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rgbClr val="FFFFFF"/>
                </a:solidFill>
              </a:defRPr>
            </a:lvl1pPr>
            <a:lvl2pPr>
              <a:defRPr sz="2000">
                <a:solidFill>
                  <a:srgbClr val="FFFFFF"/>
                </a:solidFill>
              </a:defRPr>
            </a:lvl2pPr>
            <a:lvl3pPr>
              <a:defRPr sz="1800">
                <a:solidFill>
                  <a:srgbClr val="FFFFFF"/>
                </a:solidFill>
              </a:defRPr>
            </a:lvl3pPr>
            <a:lvl4pPr>
              <a:defRPr sz="1600">
                <a:solidFill>
                  <a:srgbClr val="FFFFFF"/>
                </a:solidFill>
              </a:defRPr>
            </a:lvl4pPr>
            <a:lvl5pPr>
              <a:defRPr sz="1600">
                <a:solidFill>
                  <a:srgbClr val="FFFFFF"/>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i="0">
                <a:solidFill>
                  <a:srgbClr val="FFFFFF"/>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rgbClr val="FFFFFF"/>
                </a:solidFill>
              </a:defRPr>
            </a:lvl1pPr>
            <a:lvl2pPr>
              <a:defRPr sz="2000">
                <a:solidFill>
                  <a:srgbClr val="FFFFFF"/>
                </a:solidFill>
              </a:defRPr>
            </a:lvl2pPr>
            <a:lvl3pPr>
              <a:defRPr sz="1800">
                <a:solidFill>
                  <a:srgbClr val="FFFFFF"/>
                </a:solidFill>
              </a:defRPr>
            </a:lvl3pPr>
            <a:lvl4pPr>
              <a:defRPr sz="1600">
                <a:solidFill>
                  <a:srgbClr val="FFFFFF"/>
                </a:solidFill>
              </a:defRPr>
            </a:lvl4pPr>
            <a:lvl5pPr>
              <a:defRPr sz="1600">
                <a:solidFill>
                  <a:srgbClr val="FFFFFF"/>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46979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5_Comparison">
    <p:spTree>
      <p:nvGrpSpPr>
        <p:cNvPr id="1" name=""/>
        <p:cNvGrpSpPr/>
        <p:nvPr/>
      </p:nvGrpSpPr>
      <p:grpSpPr>
        <a:xfrm>
          <a:off x="0" y="0"/>
          <a:ext cx="0" cy="0"/>
          <a:chOff x="0" y="0"/>
          <a:chExt cx="0" cy="0"/>
        </a:xfrm>
      </p:grpSpPr>
      <p:pic>
        <p:nvPicPr>
          <p:cNvPr id="7" name="Picture 6"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i="0">
                <a:solidFill>
                  <a:schemeClr val="accent4"/>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i="0">
                <a:solidFill>
                  <a:schemeClr val="accent4"/>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6979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6_Comparison">
    <p:spTree>
      <p:nvGrpSpPr>
        <p:cNvPr id="1" name=""/>
        <p:cNvGrpSpPr/>
        <p:nvPr/>
      </p:nvGrpSpPr>
      <p:grpSpPr>
        <a:xfrm>
          <a:off x="0" y="0"/>
          <a:ext cx="0" cy="0"/>
          <a:chOff x="0" y="0"/>
          <a:chExt cx="0" cy="0"/>
        </a:xfrm>
      </p:grpSpPr>
      <p:pic>
        <p:nvPicPr>
          <p:cNvPr id="7" name="Picture 6"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4638"/>
            <a:ext cx="8229599" cy="1143000"/>
          </a:xfrm>
        </p:spPr>
        <p:txBody>
          <a:bodyPr>
            <a:noAutofit/>
          </a:bodyPr>
          <a:lstStyle>
            <a:lvl1pPr>
              <a:defRPr sz="36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rmAutofit/>
          </a:bodyPr>
          <a:lstStyle>
            <a:lvl1pPr marL="0" indent="0">
              <a:buNone/>
              <a:defRPr sz="2000" b="1" i="0">
                <a:solidFill>
                  <a:schemeClr val="bg1"/>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rmAutofit/>
          </a:bodyPr>
          <a:lstStyle>
            <a:lvl1pPr marL="0" indent="0">
              <a:buNone/>
              <a:defRPr sz="2000" b="1" i="0">
                <a:solidFill>
                  <a:schemeClr val="bg1"/>
                </a:solidFill>
                <a:latin typeface="Avenir Next Regular"/>
                <a:cs typeface="Avenir Next Regula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6979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6_Title Only">
    <p:spTree>
      <p:nvGrpSpPr>
        <p:cNvPr id="1" name=""/>
        <p:cNvGrpSpPr/>
        <p:nvPr/>
      </p:nvGrpSpPr>
      <p:grpSpPr>
        <a:xfrm>
          <a:off x="0" y="0"/>
          <a:ext cx="0" cy="0"/>
          <a:chOff x="0" y="0"/>
          <a:chExt cx="0" cy="0"/>
        </a:xfrm>
      </p:grpSpPr>
      <p:pic>
        <p:nvPicPr>
          <p:cNvPr id="3" name="Picture 2"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918004" y="274638"/>
            <a:ext cx="6768796" cy="1143000"/>
          </a:xfrm>
        </p:spPr>
        <p:txBody>
          <a:bodyPr>
            <a:no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9652784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902" y="274638"/>
            <a:ext cx="8228898" cy="1143000"/>
          </a:xfrm>
        </p:spPr>
        <p:txBody>
          <a:bodyPr>
            <a:no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10847129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3" name="Picture 2"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902" y="274638"/>
            <a:ext cx="8228898" cy="1143000"/>
          </a:xfrm>
        </p:spPr>
        <p:txBody>
          <a:bodyPr>
            <a:noAutofit/>
          </a:bodyPr>
          <a:lstStyle>
            <a:lvl1pPr>
              <a:defRPr sz="3600">
                <a:solidFill>
                  <a:srgbClr val="FFFFFF"/>
                </a:solidFill>
              </a:defRPr>
            </a:lvl1pPr>
          </a:lstStyle>
          <a:p>
            <a:r>
              <a:rPr lang="en-US"/>
              <a:t>Click to edit Master title style</a:t>
            </a:r>
            <a:endParaRPr lang="en-US" dirty="0"/>
          </a:p>
        </p:txBody>
      </p:sp>
    </p:spTree>
    <p:extLst>
      <p:ext uri="{BB962C8B-B14F-4D97-AF65-F5344CB8AC3E}">
        <p14:creationId xmlns:p14="http://schemas.microsoft.com/office/powerpoint/2010/main" val="96527846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pic>
        <p:nvPicPr>
          <p:cNvPr id="3" name="Picture 2"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649606" y="274638"/>
            <a:ext cx="7037194" cy="1143000"/>
          </a:xfrm>
        </p:spPr>
        <p:txBody>
          <a:bodyPr>
            <a:no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9652784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pic>
        <p:nvPicPr>
          <p:cNvPr id="3" name="Picture 2"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649606" y="274638"/>
            <a:ext cx="7037194" cy="1143000"/>
          </a:xfrm>
        </p:spPr>
        <p:txBody>
          <a:bodyPr>
            <a:noAutofit/>
          </a:bodyPr>
          <a:lstStyle>
            <a:lvl1pPr>
              <a:defRPr sz="3600">
                <a:solidFill>
                  <a:srgbClr val="FFFFFF"/>
                </a:solidFill>
              </a:defRPr>
            </a:lvl1pPr>
          </a:lstStyle>
          <a:p>
            <a:r>
              <a:rPr lang="en-US"/>
              <a:t>Click to edit Master title style</a:t>
            </a:r>
            <a:endParaRPr lang="en-US" dirty="0"/>
          </a:p>
        </p:txBody>
      </p:sp>
    </p:spTree>
    <p:extLst>
      <p:ext uri="{BB962C8B-B14F-4D97-AF65-F5344CB8AC3E}">
        <p14:creationId xmlns:p14="http://schemas.microsoft.com/office/powerpoint/2010/main" val="965278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4_Title Only">
    <p:spTree>
      <p:nvGrpSpPr>
        <p:cNvPr id="1" name=""/>
        <p:cNvGrpSpPr/>
        <p:nvPr/>
      </p:nvGrpSpPr>
      <p:grpSpPr>
        <a:xfrm>
          <a:off x="0" y="0"/>
          <a:ext cx="0" cy="0"/>
          <a:chOff x="0" y="0"/>
          <a:chExt cx="0" cy="0"/>
        </a:xfrm>
      </p:grpSpPr>
      <p:pic>
        <p:nvPicPr>
          <p:cNvPr id="3" name="Picture 2"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902" y="274638"/>
            <a:ext cx="8228898" cy="1143000"/>
          </a:xfrm>
        </p:spPr>
        <p:txBody>
          <a:bodyPr>
            <a:no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9652784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5_Title Only">
    <p:spTree>
      <p:nvGrpSpPr>
        <p:cNvPr id="1" name=""/>
        <p:cNvGrpSpPr/>
        <p:nvPr/>
      </p:nvGrpSpPr>
      <p:grpSpPr>
        <a:xfrm>
          <a:off x="0" y="0"/>
          <a:ext cx="0" cy="0"/>
          <a:chOff x="0" y="0"/>
          <a:chExt cx="0" cy="0"/>
        </a:xfrm>
      </p:grpSpPr>
      <p:pic>
        <p:nvPicPr>
          <p:cNvPr id="3" name="Picture 2"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902" y="274638"/>
            <a:ext cx="8228898" cy="1143000"/>
          </a:xfrm>
        </p:spPr>
        <p:txBody>
          <a:bodyPr>
            <a:noAutofit/>
          </a:bodyPr>
          <a:lstStyle>
            <a:lvl1pPr>
              <a:defRPr sz="3600">
                <a:solidFill>
                  <a:srgbClr val="FFFFFF"/>
                </a:solidFill>
              </a:defRPr>
            </a:lvl1pPr>
          </a:lstStyle>
          <a:p>
            <a:r>
              <a:rPr lang="en-US"/>
              <a:t>Click to edit Master title style</a:t>
            </a:r>
            <a:endParaRPr lang="en-US" dirty="0"/>
          </a:p>
        </p:txBody>
      </p:sp>
    </p:spTree>
    <p:extLst>
      <p:ext uri="{BB962C8B-B14F-4D97-AF65-F5344CB8AC3E}">
        <p14:creationId xmlns:p14="http://schemas.microsoft.com/office/powerpoint/2010/main" val="9652784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6" name="Picture 5"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2492246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7272631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2" name="Picture 1"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7272631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pic>
        <p:nvPicPr>
          <p:cNvPr id="2" name="Picture 1"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727263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2" name="Picture 1"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7272631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pic>
        <p:nvPicPr>
          <p:cNvPr id="2" name="Picture 1"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7272631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pic>
        <p:nvPicPr>
          <p:cNvPr id="2" name="Picture 1"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72726315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5_Content with Caption">
    <p:spTree>
      <p:nvGrpSpPr>
        <p:cNvPr id="1" name=""/>
        <p:cNvGrpSpPr/>
        <p:nvPr/>
      </p:nvGrpSpPr>
      <p:grpSpPr>
        <a:xfrm>
          <a:off x="0" y="0"/>
          <a:ext cx="0" cy="0"/>
          <a:chOff x="0" y="0"/>
          <a:chExt cx="0" cy="0"/>
        </a:xfrm>
      </p:grpSpPr>
      <p:pic>
        <p:nvPicPr>
          <p:cNvPr id="5" name="Picture 4"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961356" y="277132"/>
            <a:ext cx="2393033" cy="11620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579020" y="273050"/>
            <a:ext cx="4107780" cy="62155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961356" y="1439182"/>
            <a:ext cx="2393033" cy="5049458"/>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77537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273050"/>
            <a:ext cx="3008313" cy="2461272"/>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734322"/>
            <a:ext cx="3008313" cy="33918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2182203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pic>
        <p:nvPicPr>
          <p:cNvPr id="5" name="Picture 4"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1572272"/>
            <a:ext cx="3008313" cy="1162050"/>
          </a:xfrm>
        </p:spPr>
        <p:txBody>
          <a:bodyPr anchor="b"/>
          <a:lstStyle>
            <a:lvl1pPr algn="l">
              <a:defRPr sz="2000" b="1">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734322"/>
            <a:ext cx="3008313" cy="3391840"/>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77537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pic>
        <p:nvPicPr>
          <p:cNvPr id="5" name="Picture 4"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1572272"/>
            <a:ext cx="3008313" cy="11620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734322"/>
            <a:ext cx="3008313" cy="33918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775372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3_Content with Caption">
    <p:spTree>
      <p:nvGrpSpPr>
        <p:cNvPr id="1" name=""/>
        <p:cNvGrpSpPr/>
        <p:nvPr/>
      </p:nvGrpSpPr>
      <p:grpSpPr>
        <a:xfrm>
          <a:off x="0" y="0"/>
          <a:ext cx="0" cy="0"/>
          <a:chOff x="0" y="0"/>
          <a:chExt cx="0" cy="0"/>
        </a:xfrm>
      </p:grpSpPr>
      <p:pic>
        <p:nvPicPr>
          <p:cNvPr id="5" name="Picture 4"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1572272"/>
            <a:ext cx="3008313" cy="1162050"/>
          </a:xfrm>
        </p:spPr>
        <p:txBody>
          <a:bodyPr anchor="b"/>
          <a:lstStyle>
            <a:lvl1pPr algn="l">
              <a:defRPr sz="2000" b="1">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rgbClr val="FFFFFF"/>
                </a:solidFill>
              </a:defRPr>
            </a:lvl1pPr>
            <a:lvl2pPr>
              <a:defRPr sz="2800">
                <a:solidFill>
                  <a:srgbClr val="FFFFFF"/>
                </a:solidFill>
              </a:defRPr>
            </a:lvl2pPr>
            <a:lvl3pPr>
              <a:defRPr sz="2400">
                <a:solidFill>
                  <a:srgbClr val="FFFFFF"/>
                </a:solidFill>
              </a:defRPr>
            </a:lvl3pPr>
            <a:lvl4pPr>
              <a:defRPr sz="2000">
                <a:solidFill>
                  <a:srgbClr val="FFFFFF"/>
                </a:solidFill>
              </a:defRPr>
            </a:lvl4pPr>
            <a:lvl5pPr>
              <a:defRPr sz="2000">
                <a:solidFill>
                  <a:srgbClr val="FFFFFF"/>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734322"/>
            <a:ext cx="3008313" cy="3391840"/>
          </a:xfrm>
        </p:spPr>
        <p:txBody>
          <a:bodyPr/>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77537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6_Content with Caption">
    <p:spTree>
      <p:nvGrpSpPr>
        <p:cNvPr id="1" name=""/>
        <p:cNvGrpSpPr/>
        <p:nvPr/>
      </p:nvGrpSpPr>
      <p:grpSpPr>
        <a:xfrm>
          <a:off x="0" y="0"/>
          <a:ext cx="0" cy="0"/>
          <a:chOff x="0" y="0"/>
          <a:chExt cx="0" cy="0"/>
        </a:xfrm>
      </p:grpSpPr>
      <p:pic>
        <p:nvPicPr>
          <p:cNvPr id="5" name="Picture 4"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1572272"/>
            <a:ext cx="3008313" cy="1162050"/>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734322"/>
            <a:ext cx="3008313" cy="33918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4191540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4_Content with Caption">
    <p:spTree>
      <p:nvGrpSpPr>
        <p:cNvPr id="1" name=""/>
        <p:cNvGrpSpPr/>
        <p:nvPr/>
      </p:nvGrpSpPr>
      <p:grpSpPr>
        <a:xfrm>
          <a:off x="0" y="0"/>
          <a:ext cx="0" cy="0"/>
          <a:chOff x="0" y="0"/>
          <a:chExt cx="0" cy="0"/>
        </a:xfrm>
      </p:grpSpPr>
      <p:pic>
        <p:nvPicPr>
          <p:cNvPr id="5" name="Picture 4"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457200" y="1572272"/>
            <a:ext cx="3008313" cy="1162050"/>
          </a:xfrm>
        </p:spPr>
        <p:txBody>
          <a:bodyPr anchor="b"/>
          <a:lstStyle>
            <a:lvl1pPr algn="l">
              <a:defRPr sz="2000" b="1">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rgbClr val="FFFFFF"/>
                </a:solidFill>
              </a:defRPr>
            </a:lvl1pPr>
            <a:lvl2pPr>
              <a:defRPr sz="2800">
                <a:solidFill>
                  <a:srgbClr val="FFFFFF"/>
                </a:solidFill>
              </a:defRPr>
            </a:lvl2pPr>
            <a:lvl3pPr>
              <a:defRPr sz="2400">
                <a:solidFill>
                  <a:srgbClr val="FFFFFF"/>
                </a:solidFill>
              </a:defRPr>
            </a:lvl3pPr>
            <a:lvl4pPr>
              <a:defRPr sz="2000">
                <a:solidFill>
                  <a:srgbClr val="FFFFFF"/>
                </a:solidFill>
              </a:defRPr>
            </a:lvl4pPr>
            <a:lvl5pPr>
              <a:defRPr sz="2000">
                <a:solidFill>
                  <a:srgbClr val="FFFFFF"/>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734322"/>
            <a:ext cx="3008313" cy="3391840"/>
          </a:xfrm>
        </p:spPr>
        <p:txBody>
          <a:bodyPr/>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177537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9" name="Picture 8" descr="Standard-Slide-8.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2483488" y="4800600"/>
            <a:ext cx="54864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4834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483488" y="5367338"/>
            <a:ext cx="5486400" cy="804862"/>
          </a:xfrm>
        </p:spPr>
        <p:txBody>
          <a:bodyPr/>
          <a:lstStyle>
            <a:lvl1pPr marL="0" indent="0">
              <a:buNone/>
              <a:defRPr sz="14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6159831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pic>
        <p:nvPicPr>
          <p:cNvPr id="5" name="Picture 4" descr="Standard-Slide-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4090227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pic>
        <p:nvPicPr>
          <p:cNvPr id="5" name="Picture 4" descr="Standard-Slide-10.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800600"/>
            <a:ext cx="5486400" cy="566738"/>
          </a:xfrm>
        </p:spPr>
        <p:txBody>
          <a:bodyPr anchor="b"/>
          <a:lstStyle>
            <a:lvl1pPr algn="l">
              <a:defRPr sz="2000" b="1">
                <a:solidFill>
                  <a:srgbClr val="FFFFFF"/>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solidFill>
                  <a:srgbClr val="FFFFFF"/>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b="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409022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3_Picture with Caption">
    <p:spTree>
      <p:nvGrpSpPr>
        <p:cNvPr id="1" name=""/>
        <p:cNvGrpSpPr/>
        <p:nvPr/>
      </p:nvGrpSpPr>
      <p:grpSpPr>
        <a:xfrm>
          <a:off x="0" y="0"/>
          <a:ext cx="0" cy="0"/>
          <a:chOff x="0" y="0"/>
          <a:chExt cx="0" cy="0"/>
        </a:xfrm>
      </p:grpSpPr>
      <p:pic>
        <p:nvPicPr>
          <p:cNvPr id="5" name="Picture 4" descr="Standard-Slide-14.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409022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4_Picture with Caption">
    <p:spTree>
      <p:nvGrpSpPr>
        <p:cNvPr id="1" name=""/>
        <p:cNvGrpSpPr/>
        <p:nvPr/>
      </p:nvGrpSpPr>
      <p:grpSpPr>
        <a:xfrm>
          <a:off x="0" y="0"/>
          <a:ext cx="0" cy="0"/>
          <a:chOff x="0" y="0"/>
          <a:chExt cx="0" cy="0"/>
        </a:xfrm>
      </p:grpSpPr>
      <p:pic>
        <p:nvPicPr>
          <p:cNvPr id="5" name="Picture 4" descr="Standard-Slide-15.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800600"/>
            <a:ext cx="5486400" cy="566738"/>
          </a:xfrm>
        </p:spPr>
        <p:txBody>
          <a:bodyPr anchor="b"/>
          <a:lstStyle>
            <a:lvl1pPr algn="l">
              <a:defRPr sz="2000" b="1">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solidFill>
                  <a:srgbClr val="FFFFFF"/>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b="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4090227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5_Picture with Caption">
    <p:spTree>
      <p:nvGrpSpPr>
        <p:cNvPr id="1" name=""/>
        <p:cNvGrpSpPr/>
        <p:nvPr/>
      </p:nvGrpSpPr>
      <p:grpSpPr>
        <a:xfrm>
          <a:off x="0" y="0"/>
          <a:ext cx="0" cy="0"/>
          <a:chOff x="0" y="0"/>
          <a:chExt cx="0" cy="0"/>
        </a:xfrm>
      </p:grpSpPr>
      <p:pic>
        <p:nvPicPr>
          <p:cNvPr id="5" name="Picture 4" descr="Standard-Slide-16.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409022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6_Picture with Caption">
    <p:spTree>
      <p:nvGrpSpPr>
        <p:cNvPr id="1" name=""/>
        <p:cNvGrpSpPr/>
        <p:nvPr/>
      </p:nvGrpSpPr>
      <p:grpSpPr>
        <a:xfrm>
          <a:off x="0" y="0"/>
          <a:ext cx="0" cy="0"/>
          <a:chOff x="0" y="0"/>
          <a:chExt cx="0" cy="0"/>
        </a:xfrm>
      </p:grpSpPr>
      <p:pic>
        <p:nvPicPr>
          <p:cNvPr id="5" name="Picture 4" descr="Standard-Slide-17.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792288" y="4800600"/>
            <a:ext cx="5486400" cy="566738"/>
          </a:xfrm>
        </p:spPr>
        <p:txBody>
          <a:bodyPr anchor="b"/>
          <a:lstStyle>
            <a:lvl1pPr algn="l">
              <a:defRPr sz="2000" b="1">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solidFill>
                  <a:srgbClr val="FFFFFF"/>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b="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34090227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70" r:id="rId3"/>
    <p:sldLayoutId id="2147483662" r:id="rId4"/>
    <p:sldLayoutId id="2147483671" r:id="rId5"/>
    <p:sldLayoutId id="2147483672" r:id="rId6"/>
    <p:sldLayoutId id="2147483674" r:id="rId7"/>
    <p:sldLayoutId id="2147483673" r:id="rId8"/>
    <p:sldLayoutId id="2147483675" r:id="rId9"/>
    <p:sldLayoutId id="2147483676" r:id="rId10"/>
    <p:sldLayoutId id="2147483663" r:id="rId11"/>
    <p:sldLayoutId id="2147483677" r:id="rId12"/>
    <p:sldLayoutId id="2147483678" r:id="rId13"/>
    <p:sldLayoutId id="2147483679" r:id="rId14"/>
    <p:sldLayoutId id="2147483680" r:id="rId15"/>
    <p:sldLayoutId id="2147483681" r:id="rId16"/>
    <p:sldLayoutId id="2147483682" r:id="rId17"/>
    <p:sldLayoutId id="2147483664" r:id="rId18"/>
    <p:sldLayoutId id="2147483683" r:id="rId19"/>
    <p:sldLayoutId id="2147483684" r:id="rId20"/>
    <p:sldLayoutId id="2147483685" r:id="rId21"/>
    <p:sldLayoutId id="2147483686" r:id="rId22"/>
    <p:sldLayoutId id="2147483687" r:id="rId23"/>
    <p:sldLayoutId id="2147483688" r:id="rId24"/>
    <p:sldLayoutId id="2147483694" r:id="rId25"/>
    <p:sldLayoutId id="2147483665" r:id="rId26"/>
    <p:sldLayoutId id="2147483689" r:id="rId27"/>
    <p:sldLayoutId id="2147483690" r:id="rId28"/>
    <p:sldLayoutId id="2147483691" r:id="rId29"/>
    <p:sldLayoutId id="2147483692" r:id="rId30"/>
    <p:sldLayoutId id="2147483693" r:id="rId31"/>
    <p:sldLayoutId id="2147483666" r:id="rId32"/>
    <p:sldLayoutId id="2147483695" r:id="rId33"/>
    <p:sldLayoutId id="2147483696" r:id="rId34"/>
    <p:sldLayoutId id="2147483697" r:id="rId35"/>
    <p:sldLayoutId id="2147483698" r:id="rId36"/>
    <p:sldLayoutId id="2147483699" r:id="rId37"/>
    <p:sldLayoutId id="2147483700" r:id="rId38"/>
    <p:sldLayoutId id="2147483705" r:id="rId39"/>
    <p:sldLayoutId id="2147483667" r:id="rId40"/>
    <p:sldLayoutId id="2147483701" r:id="rId41"/>
    <p:sldLayoutId id="2147483702" r:id="rId42"/>
    <p:sldLayoutId id="2147483703" r:id="rId43"/>
    <p:sldLayoutId id="2147483706" r:id="rId44"/>
    <p:sldLayoutId id="2147483704" r:id="rId45"/>
    <p:sldLayoutId id="2147483668" r:id="rId46"/>
    <p:sldLayoutId id="2147483707" r:id="rId47"/>
    <p:sldLayoutId id="2147483708" r:id="rId48"/>
    <p:sldLayoutId id="2147483709" r:id="rId49"/>
    <p:sldLayoutId id="2147483710" r:id="rId50"/>
    <p:sldLayoutId id="2147483711" r:id="rId51"/>
    <p:sldLayoutId id="2147483712" r:id="rId52"/>
  </p:sldLayoutIdLst>
  <p:txStyles>
    <p:titleStyle>
      <a:lvl1pPr algn="ctr" defTabSz="457200" rtl="0" eaLnBrk="1" latinLnBrk="0" hangingPunct="1">
        <a:spcBef>
          <a:spcPct val="0"/>
        </a:spcBef>
        <a:buNone/>
        <a:defRPr sz="4400" b="1" kern="1200">
          <a:solidFill>
            <a:schemeClr val="tx1"/>
          </a:solidFill>
          <a:latin typeface="Avenir Next Regular"/>
          <a:ea typeface="+mj-ea"/>
          <a:cs typeface="Avenir Next Regular"/>
        </a:defRPr>
      </a:lvl1pPr>
    </p:titleStyle>
    <p:bodyStyle>
      <a:lvl1pPr marL="342900" indent="-342900" algn="l" defTabSz="457200" rtl="0" eaLnBrk="1" latinLnBrk="0" hangingPunct="1">
        <a:spcBef>
          <a:spcPct val="20000"/>
        </a:spcBef>
        <a:buFont typeface="Arial"/>
        <a:buChar char="•"/>
        <a:defRPr sz="3200" b="0" i="0" kern="1200">
          <a:solidFill>
            <a:schemeClr val="tx1"/>
          </a:solidFill>
          <a:latin typeface="Mercury Display"/>
          <a:ea typeface="+mn-ea"/>
          <a:cs typeface="Mercury Display"/>
        </a:defRPr>
      </a:lvl1pPr>
      <a:lvl2pPr marL="742950" indent="-285750" algn="l" defTabSz="457200" rtl="0" eaLnBrk="1" latinLnBrk="0" hangingPunct="1">
        <a:spcBef>
          <a:spcPct val="20000"/>
        </a:spcBef>
        <a:buFont typeface="Arial"/>
        <a:buChar char="–"/>
        <a:defRPr sz="2800" b="0" i="0" kern="1200">
          <a:solidFill>
            <a:schemeClr val="tx1"/>
          </a:solidFill>
          <a:latin typeface="Mercury Display"/>
          <a:ea typeface="+mn-ea"/>
          <a:cs typeface="Mercury Display"/>
        </a:defRPr>
      </a:lvl2pPr>
      <a:lvl3pPr marL="1143000" indent="-228600" algn="l" defTabSz="457200" rtl="0" eaLnBrk="1" latinLnBrk="0" hangingPunct="1">
        <a:spcBef>
          <a:spcPct val="20000"/>
        </a:spcBef>
        <a:buFont typeface="Arial"/>
        <a:buChar char="•"/>
        <a:defRPr sz="2400" b="0" i="0" kern="1200">
          <a:solidFill>
            <a:schemeClr val="tx1"/>
          </a:solidFill>
          <a:latin typeface="Mercury Display"/>
          <a:ea typeface="+mn-ea"/>
          <a:cs typeface="Mercury Display"/>
        </a:defRPr>
      </a:lvl3pPr>
      <a:lvl4pPr marL="1600200" indent="-228600" algn="l" defTabSz="457200" rtl="0" eaLnBrk="1" latinLnBrk="0" hangingPunct="1">
        <a:spcBef>
          <a:spcPct val="20000"/>
        </a:spcBef>
        <a:buFont typeface="Arial"/>
        <a:buChar char="–"/>
        <a:defRPr sz="2000" b="0" i="0" kern="1200">
          <a:solidFill>
            <a:schemeClr val="tx1"/>
          </a:solidFill>
          <a:latin typeface="Mercury Display"/>
          <a:ea typeface="+mn-ea"/>
          <a:cs typeface="Mercury Display"/>
        </a:defRPr>
      </a:lvl4pPr>
      <a:lvl5pPr marL="2057400" indent="-228600" algn="l" defTabSz="457200" rtl="0" eaLnBrk="1" latinLnBrk="0" hangingPunct="1">
        <a:spcBef>
          <a:spcPct val="20000"/>
        </a:spcBef>
        <a:buFont typeface="Arial"/>
        <a:buChar char="»"/>
        <a:defRPr sz="2000" b="0" i="0" kern="1200">
          <a:solidFill>
            <a:schemeClr val="tx1"/>
          </a:solidFill>
          <a:latin typeface="Mercury Display"/>
          <a:ea typeface="+mn-ea"/>
          <a:cs typeface="Mercury Display"/>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https://www.uky.edu/EVPFA/Controller/risk.htm"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www.uky.edu/eForms/forms/CartPolicyExceptionRequest.pdf" TargetMode="Externa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hyperlink" Target="http://ehs.uky.edu/"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3.jpeg"/></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1295400" y="609600"/>
            <a:ext cx="6781800" cy="1905000"/>
          </a:xfrm>
        </p:spPr>
        <p:txBody>
          <a:bodyPr anchor="ctr">
            <a:normAutofit fontScale="90000"/>
          </a:bodyPr>
          <a:lstStyle/>
          <a:p>
            <a:pPr algn="ctr"/>
            <a:r>
              <a:rPr lang="en-US" altLang="en-US" sz="4800" dirty="0">
                <a:solidFill>
                  <a:srgbClr val="FFFF00"/>
                </a:solidFill>
              </a:rPr>
              <a:t>Utility Carts</a:t>
            </a:r>
            <a:br>
              <a:rPr lang="en-US" altLang="en-US" sz="4800" dirty="0">
                <a:solidFill>
                  <a:srgbClr val="FFFF00"/>
                </a:solidFill>
              </a:rPr>
            </a:br>
            <a:r>
              <a:rPr lang="en-US" altLang="en-US" sz="4800" dirty="0">
                <a:solidFill>
                  <a:srgbClr val="FFFF00"/>
                </a:solidFill>
              </a:rPr>
              <a:t>Safe Use and Handling</a:t>
            </a:r>
          </a:p>
        </p:txBody>
      </p:sp>
      <p:sp>
        <p:nvSpPr>
          <p:cNvPr id="9219" name="Rectangle 3"/>
          <p:cNvSpPr>
            <a:spLocks noGrp="1" noChangeArrowheads="1"/>
          </p:cNvSpPr>
          <p:nvPr>
            <p:ph type="subTitle" idx="1"/>
          </p:nvPr>
        </p:nvSpPr>
        <p:spPr>
          <a:xfrm>
            <a:off x="1143000" y="3048000"/>
            <a:ext cx="7010400" cy="2438400"/>
          </a:xfrm>
        </p:spPr>
        <p:txBody>
          <a:bodyPr>
            <a:normAutofit/>
          </a:bodyPr>
          <a:lstStyle/>
          <a:p>
            <a:pPr>
              <a:lnSpc>
                <a:spcPct val="80000"/>
              </a:lnSpc>
            </a:pPr>
            <a:r>
              <a:rPr lang="en-US" b="1" dirty="0">
                <a:solidFill>
                  <a:schemeClr val="bg1"/>
                </a:solidFill>
              </a:rPr>
              <a:t>Training provided by</a:t>
            </a:r>
          </a:p>
          <a:p>
            <a:pPr>
              <a:lnSpc>
                <a:spcPct val="80000"/>
              </a:lnSpc>
            </a:pPr>
            <a:r>
              <a:rPr lang="en-US" b="1" dirty="0">
                <a:solidFill>
                  <a:schemeClr val="bg1"/>
                </a:solidFill>
              </a:rPr>
              <a:t>University of Kentucky</a:t>
            </a:r>
          </a:p>
          <a:p>
            <a:pPr>
              <a:lnSpc>
                <a:spcPct val="80000"/>
              </a:lnSpc>
            </a:pPr>
            <a:r>
              <a:rPr lang="en-US" b="1" dirty="0">
                <a:solidFill>
                  <a:schemeClr val="bg1"/>
                </a:solidFill>
              </a:rPr>
              <a:t>Occupational Health and Safety Department</a:t>
            </a:r>
          </a:p>
          <a:p>
            <a:endParaRPr lang="en-US" altLang="en-US" dirty="0"/>
          </a:p>
        </p:txBody>
      </p:sp>
    </p:spTree>
    <p:extLst>
      <p:ext uri="{BB962C8B-B14F-4D97-AF65-F5344CB8AC3E}">
        <p14:creationId xmlns:p14="http://schemas.microsoft.com/office/powerpoint/2010/main" val="3303180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14400" y="381000"/>
            <a:ext cx="7772400" cy="1143000"/>
          </a:xfrm>
        </p:spPr>
        <p:txBody>
          <a:bodyPr>
            <a:normAutofit/>
          </a:bodyPr>
          <a:lstStyle/>
          <a:p>
            <a:pPr algn="ctr"/>
            <a:r>
              <a:rPr lang="en-US" altLang="en-US" dirty="0">
                <a:solidFill>
                  <a:schemeClr val="tx2">
                    <a:lumMod val="60000"/>
                    <a:lumOff val="40000"/>
                  </a:schemeClr>
                </a:solidFill>
              </a:rPr>
              <a:t>Training Objectives</a:t>
            </a:r>
          </a:p>
        </p:txBody>
      </p:sp>
      <p:sp>
        <p:nvSpPr>
          <p:cNvPr id="24579" name="Rectangle 3"/>
          <p:cNvSpPr>
            <a:spLocks noGrp="1" noChangeArrowheads="1"/>
          </p:cNvSpPr>
          <p:nvPr>
            <p:ph idx="1"/>
          </p:nvPr>
        </p:nvSpPr>
        <p:spPr/>
        <p:txBody>
          <a:bodyPr>
            <a:normAutofit fontScale="47500" lnSpcReduction="20000"/>
          </a:bodyPr>
          <a:lstStyle/>
          <a:p>
            <a:r>
              <a:rPr lang="en-US" sz="5100" dirty="0"/>
              <a:t>UK Policy on Utility Carts</a:t>
            </a:r>
          </a:p>
          <a:p>
            <a:endParaRPr lang="en-US" sz="5100" dirty="0"/>
          </a:p>
          <a:p>
            <a:r>
              <a:rPr lang="en-US" sz="5100" dirty="0"/>
              <a:t>How to inspect a utility cart prior to operating</a:t>
            </a:r>
          </a:p>
          <a:p>
            <a:pPr marL="0" indent="0">
              <a:buNone/>
            </a:pPr>
            <a:endParaRPr lang="en-US" sz="5100" dirty="0"/>
          </a:p>
          <a:p>
            <a:r>
              <a:rPr lang="en-US" sz="5100" dirty="0"/>
              <a:t>How to operate a utility cart</a:t>
            </a:r>
          </a:p>
          <a:p>
            <a:endParaRPr lang="en-US" sz="5100" dirty="0"/>
          </a:p>
          <a:p>
            <a:r>
              <a:rPr lang="en-US" sz="5100" dirty="0"/>
              <a:t>Incident reporting</a:t>
            </a:r>
          </a:p>
          <a:p>
            <a:pPr marL="0" indent="0">
              <a:buNone/>
            </a:pPr>
            <a:endParaRPr lang="en-US" sz="5100" dirty="0"/>
          </a:p>
          <a:p>
            <a:pPr>
              <a:buFontTx/>
              <a:buChar char="•"/>
            </a:pPr>
            <a:r>
              <a:rPr lang="en-US" sz="5100" dirty="0"/>
              <a:t>How to store a utility cart</a:t>
            </a:r>
          </a:p>
          <a:p>
            <a:endParaRPr lang="en-US" sz="5100" dirty="0"/>
          </a:p>
          <a:p>
            <a:pPr lvl="0"/>
            <a:endParaRPr lang="en-US" sz="5100" dirty="0"/>
          </a:p>
          <a:p>
            <a:pPr marL="0" indent="0">
              <a:buNone/>
            </a:pPr>
            <a:r>
              <a:rPr lang="en-US" altLang="en-US" dirty="0"/>
              <a:t>						</a:t>
            </a:r>
          </a:p>
        </p:txBody>
      </p:sp>
    </p:spTree>
    <p:extLst>
      <p:ext uri="{BB962C8B-B14F-4D97-AF65-F5344CB8AC3E}">
        <p14:creationId xmlns:p14="http://schemas.microsoft.com/office/powerpoint/2010/main" val="1599077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dirty="0">
                <a:solidFill>
                  <a:schemeClr val="accent1"/>
                </a:solidFill>
              </a:rPr>
              <a:t>UK Policy for Operating a Cart</a:t>
            </a:r>
          </a:p>
        </p:txBody>
      </p:sp>
      <p:sp>
        <p:nvSpPr>
          <p:cNvPr id="3" name="Content Placeholder 2"/>
          <p:cNvSpPr>
            <a:spLocks noGrp="1"/>
          </p:cNvSpPr>
          <p:nvPr>
            <p:ph idx="1"/>
          </p:nvPr>
        </p:nvSpPr>
        <p:spPr/>
        <p:txBody>
          <a:bodyPr>
            <a:normAutofit lnSpcReduction="10000"/>
          </a:bodyPr>
          <a:lstStyle/>
          <a:p>
            <a:pPr lvl="0"/>
            <a:r>
              <a:rPr lang="en-US" sz="2400" dirty="0"/>
              <a:t>Possess a valid driver's license.</a:t>
            </a:r>
          </a:p>
          <a:p>
            <a:pPr lvl="0"/>
            <a:endParaRPr lang="en-US" sz="2400" dirty="0"/>
          </a:p>
          <a:p>
            <a:pPr lvl="0"/>
            <a:r>
              <a:rPr lang="en-US" sz="2400" dirty="0"/>
              <a:t>Successfully complete a University Motor Vehicle Record (MVR) </a:t>
            </a:r>
            <a:r>
              <a:rPr lang="en-US" sz="2400" dirty="0">
                <a:hlinkClick r:id="rId3"/>
              </a:rPr>
              <a:t>Release of Information Form </a:t>
            </a:r>
            <a:endParaRPr lang="en-US" sz="2400" dirty="0"/>
          </a:p>
          <a:p>
            <a:pPr lvl="0"/>
            <a:endParaRPr lang="en-US" sz="2400" dirty="0"/>
          </a:p>
          <a:p>
            <a:pPr lvl="0"/>
            <a:r>
              <a:rPr lang="en-US" sz="2400" dirty="0"/>
              <a:t>Successfully complete the University’s Cart Safety Training Program.</a:t>
            </a:r>
          </a:p>
          <a:p>
            <a:pPr lvl="0"/>
            <a:endParaRPr lang="en-US" sz="2400" dirty="0"/>
          </a:p>
          <a:p>
            <a:pPr lvl="0"/>
            <a:r>
              <a:rPr lang="en-US" sz="2400" dirty="0"/>
              <a:t>Read all warning labels on the cart you will be operating prior to use.</a:t>
            </a:r>
          </a:p>
          <a:p>
            <a:pPr lvl="0"/>
            <a:endParaRPr lang="en-US" sz="2400" dirty="0"/>
          </a:p>
        </p:txBody>
      </p:sp>
      <p:sp>
        <p:nvSpPr>
          <p:cNvPr id="33799" name="Text Box 7"/>
          <p:cNvSpPr txBox="1">
            <a:spLocks noChangeArrowheads="1"/>
          </p:cNvSpPr>
          <p:nvPr/>
        </p:nvSpPr>
        <p:spPr bwMode="auto">
          <a:xfrm>
            <a:off x="2117725" y="4675188"/>
            <a:ext cx="184150" cy="463550"/>
          </a:xfrm>
          <a:prstGeom prst="rect">
            <a:avLst/>
          </a:prstGeom>
          <a:noFill/>
          <a:ln w="9525">
            <a:noFill/>
            <a:miter lim="800000"/>
            <a:headEnd/>
            <a:tailEnd/>
          </a:ln>
          <a:effectLst/>
        </p:spPr>
        <p:txBody>
          <a:bodyPr wrap="none">
            <a:spAutoFit/>
          </a:bodyPr>
          <a:lstStyle/>
          <a:p>
            <a:pPr algn="l"/>
            <a:endParaRPr lang="en-US" altLang="en-US" sz="2400"/>
          </a:p>
        </p:txBody>
      </p:sp>
      <p:sp>
        <p:nvSpPr>
          <p:cNvPr id="33801" name="Text Box 9"/>
          <p:cNvSpPr txBox="1">
            <a:spLocks noChangeArrowheads="1"/>
          </p:cNvSpPr>
          <p:nvPr/>
        </p:nvSpPr>
        <p:spPr bwMode="auto">
          <a:xfrm>
            <a:off x="2041525" y="5132388"/>
            <a:ext cx="184150" cy="463550"/>
          </a:xfrm>
          <a:prstGeom prst="rect">
            <a:avLst/>
          </a:prstGeom>
          <a:noFill/>
          <a:ln w="9525">
            <a:noFill/>
            <a:miter lim="800000"/>
            <a:headEnd/>
            <a:tailEnd/>
          </a:ln>
          <a:effectLst/>
        </p:spPr>
        <p:txBody>
          <a:bodyPr wrap="none">
            <a:spAutoFit/>
          </a:bodyPr>
          <a:lstStyle/>
          <a:p>
            <a:pPr algn="l"/>
            <a:endParaRPr lang="en-US" altLang="en-US" sz="2400"/>
          </a:p>
        </p:txBody>
      </p:sp>
      <p:sp>
        <p:nvSpPr>
          <p:cNvPr id="33803" name="Text Box 11"/>
          <p:cNvSpPr txBox="1">
            <a:spLocks noChangeArrowheads="1"/>
          </p:cNvSpPr>
          <p:nvPr/>
        </p:nvSpPr>
        <p:spPr bwMode="auto">
          <a:xfrm>
            <a:off x="2498725" y="5360988"/>
            <a:ext cx="184150" cy="463550"/>
          </a:xfrm>
          <a:prstGeom prst="rect">
            <a:avLst/>
          </a:prstGeom>
          <a:noFill/>
          <a:ln w="9525">
            <a:noFill/>
            <a:miter lim="800000"/>
            <a:headEnd/>
            <a:tailEnd/>
          </a:ln>
          <a:effectLst/>
        </p:spPr>
        <p:txBody>
          <a:bodyPr wrap="none">
            <a:spAutoFit/>
          </a:bodyPr>
          <a:lstStyle/>
          <a:p>
            <a:pPr algn="l"/>
            <a:endParaRPr lang="en-US" altLang="en-US" sz="2400"/>
          </a:p>
        </p:txBody>
      </p:sp>
    </p:spTree>
    <p:extLst>
      <p:ext uri="{BB962C8B-B14F-4D97-AF65-F5344CB8AC3E}">
        <p14:creationId xmlns:p14="http://schemas.microsoft.com/office/powerpoint/2010/main" val="1998885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solidFill>
                  <a:schemeClr val="accent1"/>
                </a:solidFill>
              </a:rPr>
              <a:t>UK Policy for Operating a Cart</a:t>
            </a:r>
            <a:endParaRPr lang="en-US" dirty="0"/>
          </a:p>
        </p:txBody>
      </p:sp>
      <p:sp>
        <p:nvSpPr>
          <p:cNvPr id="3" name="Content Placeholder 2"/>
          <p:cNvSpPr>
            <a:spLocks noGrp="1"/>
          </p:cNvSpPr>
          <p:nvPr>
            <p:ph idx="1"/>
          </p:nvPr>
        </p:nvSpPr>
        <p:spPr/>
        <p:txBody>
          <a:bodyPr>
            <a:normAutofit/>
          </a:bodyPr>
          <a:lstStyle/>
          <a:p>
            <a:r>
              <a:rPr lang="en-US" sz="2200" dirty="0"/>
              <a:t>Personally owned carts are prohibited from operating on University property. </a:t>
            </a:r>
          </a:p>
          <a:p>
            <a:endParaRPr lang="en-US" sz="2200" dirty="0"/>
          </a:p>
          <a:p>
            <a:r>
              <a:rPr lang="en-US" sz="2000" dirty="0"/>
              <a:t>Only use University carts during the performance of official University business</a:t>
            </a:r>
            <a:r>
              <a:rPr lang="en-US" sz="2000" dirty="0">
                <a:solidFill>
                  <a:schemeClr val="bg1"/>
                </a:solidFill>
              </a:rPr>
              <a:t>.</a:t>
            </a:r>
          </a:p>
          <a:p>
            <a:endParaRPr lang="en-US" sz="2200" dirty="0"/>
          </a:p>
          <a:p>
            <a:r>
              <a:rPr lang="en-US" sz="2200" dirty="0"/>
              <a:t>Special consideration will be given to disabled individuals with the recommendation of the Disability Resources Center.</a:t>
            </a:r>
          </a:p>
          <a:p>
            <a:endParaRPr lang="en-US" sz="2200" dirty="0"/>
          </a:p>
        </p:txBody>
      </p:sp>
    </p:spTree>
    <p:extLst>
      <p:ext uri="{BB962C8B-B14F-4D97-AF65-F5344CB8AC3E}">
        <p14:creationId xmlns:p14="http://schemas.microsoft.com/office/powerpoint/2010/main" val="2245222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solidFill>
                  <a:schemeClr val="accent1"/>
                </a:solidFill>
              </a:rPr>
              <a:t>UK Policy for Operating a Cart</a:t>
            </a:r>
            <a:endParaRPr lang="en-US" dirty="0"/>
          </a:p>
        </p:txBody>
      </p:sp>
      <p:sp>
        <p:nvSpPr>
          <p:cNvPr id="3" name="Content Placeholder 2"/>
          <p:cNvSpPr>
            <a:spLocks noGrp="1"/>
          </p:cNvSpPr>
          <p:nvPr>
            <p:ph idx="1"/>
          </p:nvPr>
        </p:nvSpPr>
        <p:spPr/>
        <p:txBody>
          <a:bodyPr>
            <a:normAutofit/>
          </a:bodyPr>
          <a:lstStyle/>
          <a:p>
            <a:r>
              <a:rPr lang="en-US" sz="2200" dirty="0"/>
              <a:t>All University contractors or vendors functioning on University property must obtain written authorization from the University Office of Risk Management before operating their carts on University property.</a:t>
            </a:r>
          </a:p>
          <a:p>
            <a:endParaRPr lang="en-US" sz="2200" dirty="0"/>
          </a:p>
          <a:p>
            <a:endParaRPr lang="en-US" sz="2200" dirty="0"/>
          </a:p>
          <a:p>
            <a:r>
              <a:rPr lang="en-US" sz="2200" dirty="0"/>
              <a:t>Exceptions to the policy must have prior approval of Risk Management. Please see the form </a:t>
            </a:r>
            <a:r>
              <a:rPr lang="en-US" sz="2200" u="sng" dirty="0">
                <a:hlinkClick r:id="rId3"/>
              </a:rPr>
              <a:t>Cart Policy Exception Request</a:t>
            </a:r>
            <a:r>
              <a:rPr lang="en-US" sz="2200" dirty="0">
                <a:hlinkClick r:id="rId3"/>
              </a:rPr>
              <a:t> </a:t>
            </a:r>
            <a:r>
              <a:rPr lang="en-US" sz="2200" dirty="0"/>
              <a:t> on the University’s </a:t>
            </a:r>
            <a:r>
              <a:rPr lang="en-US" sz="2200" dirty="0" err="1"/>
              <a:t>eForms</a:t>
            </a:r>
            <a:r>
              <a:rPr lang="en-US" sz="2200" dirty="0"/>
              <a:t> page</a:t>
            </a:r>
          </a:p>
        </p:txBody>
      </p:sp>
    </p:spTree>
    <p:extLst>
      <p:ext uri="{BB962C8B-B14F-4D97-AF65-F5344CB8AC3E}">
        <p14:creationId xmlns:p14="http://schemas.microsoft.com/office/powerpoint/2010/main" val="1991836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pPr algn="ctr"/>
            <a:r>
              <a:rPr lang="en-US" altLang="en-US" dirty="0">
                <a:solidFill>
                  <a:schemeClr val="bg1"/>
                </a:solidFill>
              </a:rPr>
              <a:t>Types of Utility Carts</a:t>
            </a: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1524000"/>
            <a:ext cx="2362200" cy="1771650"/>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1752" y="3505200"/>
            <a:ext cx="2365248" cy="1773936"/>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0" y="1521714"/>
            <a:ext cx="2365248" cy="1773936"/>
          </a:xfrm>
          <a:prstGeom prst="rect">
            <a:avLst/>
          </a:prstGeom>
        </p:spPr>
      </p:pic>
      <p:pic>
        <p:nvPicPr>
          <p:cNvPr id="5" name="Picture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48000" y="3505200"/>
            <a:ext cx="2365248" cy="1773936"/>
          </a:xfrm>
          <a:prstGeom prst="rect">
            <a:avLst/>
          </a:prstGeom>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91200" y="1524000"/>
            <a:ext cx="2365248" cy="1773936"/>
          </a:xfrm>
          <a:prstGeom prst="rect">
            <a:avLst/>
          </a:prstGeom>
        </p:spPr>
      </p:pic>
      <p:pic>
        <p:nvPicPr>
          <p:cNvPr id="11" name="Picture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91200" y="3505200"/>
            <a:ext cx="2365248" cy="1773936"/>
          </a:xfrm>
          <a:prstGeom prst="rect">
            <a:avLst/>
          </a:prstGeom>
        </p:spPr>
      </p:pic>
    </p:spTree>
    <p:extLst>
      <p:ext uri="{BB962C8B-B14F-4D97-AF65-F5344CB8AC3E}">
        <p14:creationId xmlns:p14="http://schemas.microsoft.com/office/powerpoint/2010/main" val="619466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Types of Utility Carts</a:t>
            </a:r>
          </a:p>
        </p:txBody>
      </p:sp>
      <p:sp>
        <p:nvSpPr>
          <p:cNvPr id="3" name="Content Placeholder 2"/>
          <p:cNvSpPr>
            <a:spLocks noGrp="1"/>
          </p:cNvSpPr>
          <p:nvPr>
            <p:ph idx="1"/>
          </p:nvPr>
        </p:nvSpPr>
        <p:spPr/>
        <p:txBody>
          <a:bodyPr/>
          <a:lstStyle/>
          <a:p>
            <a:r>
              <a:rPr lang="en-US" dirty="0"/>
              <a:t>Gas &amp; Electric</a:t>
            </a:r>
          </a:p>
          <a:p>
            <a:endParaRPr lang="en-US" dirty="0"/>
          </a:p>
          <a:p>
            <a:r>
              <a:rPr lang="en-US" dirty="0"/>
              <a:t>2 passenger, 4 passenger, and 6 passenger carts</a:t>
            </a:r>
          </a:p>
          <a:p>
            <a:endParaRPr lang="en-US" dirty="0"/>
          </a:p>
          <a:p>
            <a:r>
              <a:rPr lang="en-US" dirty="0"/>
              <a:t>Side-by-sides and Gators for material transport</a:t>
            </a:r>
          </a:p>
          <a:p>
            <a:endParaRPr lang="en-US" dirty="0"/>
          </a:p>
        </p:txBody>
      </p:sp>
    </p:spTree>
    <p:extLst>
      <p:ext uri="{BB962C8B-B14F-4D97-AF65-F5344CB8AC3E}">
        <p14:creationId xmlns:p14="http://schemas.microsoft.com/office/powerpoint/2010/main" val="3033821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rgbClr val="FFFF00"/>
                </a:solidFill>
              </a:rPr>
              <a:t>Equipment Standards</a:t>
            </a:r>
          </a:p>
        </p:txBody>
      </p:sp>
      <p:pic>
        <p:nvPicPr>
          <p:cNvPr id="8" name="Picture 8" descr="MVC-010F"/>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09829" y="2591554"/>
            <a:ext cx="3090489" cy="231786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Rectangle 4"/>
          <p:cNvSpPr>
            <a:spLocks noGrp="1" noChangeArrowheads="1"/>
          </p:cNvSpPr>
          <p:nvPr>
            <p:ph sz="half" idx="4294967295"/>
          </p:nvPr>
        </p:nvSpPr>
        <p:spPr>
          <a:xfrm>
            <a:off x="4095404" y="1195388"/>
            <a:ext cx="5048596" cy="5338416"/>
          </a:xfrm>
        </p:spPr>
        <p:txBody>
          <a:bodyPr>
            <a:normAutofit fontScale="62500" lnSpcReduction="20000"/>
          </a:bodyPr>
          <a:lstStyle/>
          <a:p>
            <a:pPr lvl="0"/>
            <a:r>
              <a:rPr lang="en-US" sz="3200" dirty="0">
                <a:solidFill>
                  <a:schemeClr val="bg1"/>
                </a:solidFill>
              </a:rPr>
              <a:t>Horn</a:t>
            </a:r>
          </a:p>
          <a:p>
            <a:pPr lvl="0"/>
            <a:endParaRPr lang="en-US" sz="3200" dirty="0">
              <a:solidFill>
                <a:schemeClr val="bg1"/>
              </a:solidFill>
            </a:endParaRPr>
          </a:p>
          <a:p>
            <a:pPr lvl="0"/>
            <a:r>
              <a:rPr lang="en-US" sz="3200" dirty="0">
                <a:solidFill>
                  <a:schemeClr val="bg1"/>
                </a:solidFill>
              </a:rPr>
              <a:t>Visual flashing warning device visible from 360 degrees</a:t>
            </a:r>
          </a:p>
          <a:p>
            <a:pPr lvl="0"/>
            <a:endParaRPr lang="en-US" sz="3200" dirty="0">
              <a:solidFill>
                <a:schemeClr val="bg1"/>
              </a:solidFill>
            </a:endParaRPr>
          </a:p>
          <a:p>
            <a:r>
              <a:rPr lang="en-US" dirty="0">
                <a:solidFill>
                  <a:schemeClr val="bg1"/>
                </a:solidFill>
              </a:rPr>
              <a:t>Reflective triangles displayed on the exterior rear of the cart and any trailer as near the center as practical</a:t>
            </a:r>
          </a:p>
          <a:p>
            <a:pPr lvl="0"/>
            <a:endParaRPr lang="en-US" sz="3200" dirty="0">
              <a:solidFill>
                <a:schemeClr val="bg1"/>
              </a:solidFill>
            </a:endParaRPr>
          </a:p>
          <a:p>
            <a:pPr lvl="0"/>
            <a:r>
              <a:rPr lang="en-US" sz="3200" dirty="0">
                <a:solidFill>
                  <a:schemeClr val="bg1"/>
                </a:solidFill>
              </a:rPr>
              <a:t>Ignition / on-off key to prevent unauthorized use</a:t>
            </a:r>
          </a:p>
          <a:p>
            <a:pPr lvl="0"/>
            <a:endParaRPr lang="en-US" sz="3200" dirty="0">
              <a:solidFill>
                <a:schemeClr val="bg1"/>
              </a:solidFill>
            </a:endParaRPr>
          </a:p>
          <a:p>
            <a:pPr lvl="0"/>
            <a:r>
              <a:rPr lang="en-US" sz="3200" dirty="0">
                <a:solidFill>
                  <a:schemeClr val="bg1"/>
                </a:solidFill>
              </a:rPr>
              <a:t>If operating during hours of limited visibility, headlamps and tail lamps are required.</a:t>
            </a:r>
          </a:p>
          <a:p>
            <a:pPr lvl="0"/>
            <a:endParaRPr lang="en-US" sz="3200" dirty="0">
              <a:solidFill>
                <a:schemeClr val="bg1"/>
              </a:solidFill>
            </a:endParaRPr>
          </a:p>
          <a:p>
            <a:r>
              <a:rPr lang="en-US" sz="3200" dirty="0">
                <a:solidFill>
                  <a:schemeClr val="bg1"/>
                </a:solidFill>
              </a:rPr>
              <a:t>Department name clearly marked on cart in at least two inch lettering</a:t>
            </a:r>
          </a:p>
          <a:p>
            <a:pPr lvl="0"/>
            <a:endParaRPr lang="en-US" sz="3200" dirty="0">
              <a:solidFill>
                <a:schemeClr val="bg1"/>
              </a:solidFill>
            </a:endParaRPr>
          </a:p>
          <a:p>
            <a:pPr lvl="0"/>
            <a:endParaRPr lang="en-US" sz="3200" dirty="0">
              <a:solidFill>
                <a:schemeClr val="bg1"/>
              </a:solidFill>
            </a:endParaRPr>
          </a:p>
          <a:p>
            <a:pPr eaLnBrk="1" hangingPunct="1">
              <a:buFontTx/>
              <a:buNone/>
            </a:pPr>
            <a:endParaRPr lang="en-US" sz="2000" dirty="0">
              <a:solidFill>
                <a:schemeClr val="bg1"/>
              </a:solidFill>
            </a:endParaRPr>
          </a:p>
        </p:txBody>
      </p:sp>
      <p:sp>
        <p:nvSpPr>
          <p:cNvPr id="10" name="Rectangle 12"/>
          <p:cNvSpPr>
            <a:spLocks noChangeArrowheads="1"/>
          </p:cNvSpPr>
          <p:nvPr/>
        </p:nvSpPr>
        <p:spPr bwMode="auto">
          <a:xfrm>
            <a:off x="311728" y="1490748"/>
            <a:ext cx="4038600" cy="847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sz="2200" dirty="0">
                <a:solidFill>
                  <a:schemeClr val="bg1"/>
                </a:solidFill>
                <a:latin typeface="Mercury Display"/>
              </a:rPr>
              <a:t>All installed equipment </a:t>
            </a:r>
            <a:r>
              <a:rPr lang="en-US" sz="2200" b="1" u="sng" dirty="0">
                <a:solidFill>
                  <a:srgbClr val="FF0000"/>
                </a:solidFill>
                <a:latin typeface="Mercury Display"/>
              </a:rPr>
              <a:t>MUST</a:t>
            </a:r>
            <a:r>
              <a:rPr lang="en-US" sz="2200" dirty="0">
                <a:solidFill>
                  <a:schemeClr val="bg1"/>
                </a:solidFill>
                <a:latin typeface="Mercury Display"/>
              </a:rPr>
              <a:t> be in functioning order!</a:t>
            </a:r>
          </a:p>
        </p:txBody>
      </p:sp>
      <p:sp>
        <p:nvSpPr>
          <p:cNvPr id="12" name="Rectangle 10"/>
          <p:cNvSpPr>
            <a:spLocks noChangeArrowheads="1"/>
          </p:cNvSpPr>
          <p:nvPr/>
        </p:nvSpPr>
        <p:spPr bwMode="auto">
          <a:xfrm>
            <a:off x="4572000" y="3400661"/>
            <a:ext cx="396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sz="1800" dirty="0">
              <a:solidFill>
                <a:schemeClr val="bg1"/>
              </a:solidFill>
              <a:latin typeface="Myriad Web" pitchFamily="34" charset="0"/>
            </a:endParaRPr>
          </a:p>
        </p:txBody>
      </p:sp>
      <p:sp>
        <p:nvSpPr>
          <p:cNvPr id="13" name="Rectangle 11"/>
          <p:cNvSpPr>
            <a:spLocks noChangeArrowheads="1"/>
          </p:cNvSpPr>
          <p:nvPr/>
        </p:nvSpPr>
        <p:spPr bwMode="auto">
          <a:xfrm>
            <a:off x="4724400" y="3857861"/>
            <a:ext cx="289560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endParaRPr lang="en-US" sz="1400" dirty="0">
              <a:solidFill>
                <a:schemeClr val="bg1"/>
              </a:solidFill>
            </a:endParaRPr>
          </a:p>
        </p:txBody>
      </p:sp>
      <p:sp>
        <p:nvSpPr>
          <p:cNvPr id="2" name="TextBox 1"/>
          <p:cNvSpPr txBox="1"/>
          <p:nvPr/>
        </p:nvSpPr>
        <p:spPr>
          <a:xfrm>
            <a:off x="360218" y="4982095"/>
            <a:ext cx="3513513" cy="1015663"/>
          </a:xfrm>
          <a:prstGeom prst="rect">
            <a:avLst/>
          </a:prstGeom>
          <a:noFill/>
        </p:spPr>
        <p:txBody>
          <a:bodyPr wrap="square" rtlCol="0">
            <a:spAutoFit/>
          </a:bodyPr>
          <a:lstStyle/>
          <a:p>
            <a:pPr marL="342900" lvl="0" indent="-342900">
              <a:buFont typeface="Arial" panose="020B0604020202020204" pitchFamily="34" charset="0"/>
              <a:buChar char="•"/>
            </a:pPr>
            <a:r>
              <a:rPr lang="en-US" sz="2000" dirty="0">
                <a:solidFill>
                  <a:schemeClr val="bg1"/>
                </a:solidFill>
                <a:latin typeface="Mercury Display"/>
              </a:rPr>
              <a:t>Parking brake with adequate strength to hold the cart </a:t>
            </a:r>
          </a:p>
        </p:txBody>
      </p:sp>
    </p:spTree>
    <p:extLst>
      <p:ext uri="{BB962C8B-B14F-4D97-AF65-F5344CB8AC3E}">
        <p14:creationId xmlns:p14="http://schemas.microsoft.com/office/powerpoint/2010/main" val="1676292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Pre-Trip Inspection</a:t>
            </a:r>
          </a:p>
        </p:txBody>
      </p:sp>
      <p:sp>
        <p:nvSpPr>
          <p:cNvPr id="3" name="Content Placeholder 2"/>
          <p:cNvSpPr>
            <a:spLocks noGrp="1"/>
          </p:cNvSpPr>
          <p:nvPr>
            <p:ph idx="1"/>
          </p:nvPr>
        </p:nvSpPr>
        <p:spPr>
          <a:xfrm>
            <a:off x="1866166" y="1280160"/>
            <a:ext cx="6820633" cy="4846003"/>
          </a:xfrm>
        </p:spPr>
        <p:txBody>
          <a:bodyPr>
            <a:normAutofit lnSpcReduction="10000"/>
          </a:bodyPr>
          <a:lstStyle/>
          <a:p>
            <a:r>
              <a:rPr lang="en-US" sz="2800" dirty="0"/>
              <a:t>The operator shall perform a pre-trip inspection prior to operating a cart each day.</a:t>
            </a:r>
          </a:p>
          <a:p>
            <a:endParaRPr lang="en-US" sz="2800" dirty="0"/>
          </a:p>
          <a:p>
            <a:r>
              <a:rPr lang="en-US" sz="2800" dirty="0"/>
              <a:t>The operator should check the lights, brakes, back-up alarm, lights, horn, and tire pressure.</a:t>
            </a:r>
          </a:p>
          <a:p>
            <a:endParaRPr lang="en-US" sz="2800" dirty="0"/>
          </a:p>
          <a:p>
            <a:r>
              <a:rPr lang="en-US" sz="2800" dirty="0"/>
              <a:t>If any repairs are needed, the utility cart shall be taken out of service until the proper repairs are made</a:t>
            </a:r>
            <a:r>
              <a:rPr lang="en-US" sz="2800" dirty="0">
                <a:solidFill>
                  <a:schemeClr val="bg1"/>
                </a:solidFill>
              </a:rPr>
              <a:t>.</a:t>
            </a:r>
          </a:p>
        </p:txBody>
      </p:sp>
    </p:spTree>
    <p:extLst>
      <p:ext uri="{BB962C8B-B14F-4D97-AF65-F5344CB8AC3E}">
        <p14:creationId xmlns:p14="http://schemas.microsoft.com/office/powerpoint/2010/main" val="2949199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Cart Operation</a:t>
            </a:r>
          </a:p>
        </p:txBody>
      </p:sp>
      <p:sp>
        <p:nvSpPr>
          <p:cNvPr id="3" name="Content Placeholder 2"/>
          <p:cNvSpPr>
            <a:spLocks noGrp="1"/>
          </p:cNvSpPr>
          <p:nvPr>
            <p:ph idx="1"/>
          </p:nvPr>
        </p:nvSpPr>
        <p:spPr/>
        <p:txBody>
          <a:bodyPr>
            <a:normAutofit/>
          </a:bodyPr>
          <a:lstStyle/>
          <a:p>
            <a:r>
              <a:rPr lang="en-US" sz="2400" dirty="0">
                <a:solidFill>
                  <a:schemeClr val="bg1"/>
                </a:solidFill>
              </a:rPr>
              <a:t>Carts shall be operated in a safe and courteous manner at all times. </a:t>
            </a:r>
          </a:p>
          <a:p>
            <a:endParaRPr lang="en-US" sz="2400" dirty="0">
              <a:solidFill>
                <a:schemeClr val="bg1"/>
              </a:solidFill>
            </a:endParaRPr>
          </a:p>
          <a:p>
            <a:r>
              <a:rPr lang="en-US" sz="2400" dirty="0">
                <a:solidFill>
                  <a:schemeClr val="bg1"/>
                </a:solidFill>
              </a:rPr>
              <a:t>Use the horn to alert unaware pedestrians of your presence.</a:t>
            </a:r>
          </a:p>
          <a:p>
            <a:endParaRPr lang="en-US" sz="2400" dirty="0">
              <a:solidFill>
                <a:schemeClr val="bg1"/>
              </a:solidFill>
            </a:endParaRPr>
          </a:p>
          <a:p>
            <a:r>
              <a:rPr lang="en-US" sz="2400" dirty="0">
                <a:solidFill>
                  <a:schemeClr val="bg1"/>
                </a:solidFill>
              </a:rPr>
              <a:t>Pedestrians shall be afforded the right-of-way at all times.</a:t>
            </a:r>
          </a:p>
          <a:p>
            <a:r>
              <a:rPr lang="en-US" sz="2400" dirty="0">
                <a:solidFill>
                  <a:schemeClr val="bg1"/>
                </a:solidFill>
              </a:rPr>
              <a:t> </a:t>
            </a:r>
          </a:p>
          <a:p>
            <a:r>
              <a:rPr lang="en-US" sz="2400" dirty="0">
                <a:solidFill>
                  <a:schemeClr val="bg1"/>
                </a:solidFill>
              </a:rPr>
              <a:t>Always adhere to manufacturer’s recommendations for safe operation.</a:t>
            </a:r>
          </a:p>
        </p:txBody>
      </p:sp>
    </p:spTree>
    <p:extLst>
      <p:ext uri="{BB962C8B-B14F-4D97-AF65-F5344CB8AC3E}">
        <p14:creationId xmlns:p14="http://schemas.microsoft.com/office/powerpoint/2010/main" val="385989958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Cart Operation</a:t>
            </a:r>
          </a:p>
        </p:txBody>
      </p:sp>
      <p:sp>
        <p:nvSpPr>
          <p:cNvPr id="3" name="Content Placeholder 2"/>
          <p:cNvSpPr>
            <a:spLocks noGrp="1"/>
          </p:cNvSpPr>
          <p:nvPr>
            <p:ph idx="1"/>
          </p:nvPr>
        </p:nvSpPr>
        <p:spPr/>
        <p:txBody>
          <a:bodyPr>
            <a:normAutofit/>
          </a:bodyPr>
          <a:lstStyle/>
          <a:p>
            <a:pPr lvl="0"/>
            <a:r>
              <a:rPr lang="en-US" sz="2400" dirty="0">
                <a:solidFill>
                  <a:schemeClr val="bg1"/>
                </a:solidFill>
              </a:rPr>
              <a:t>Operators shall observe all vehicle traffic laws (e.g. stop signs)</a:t>
            </a:r>
          </a:p>
          <a:p>
            <a:pPr lvl="0"/>
            <a:endParaRPr lang="en-US" sz="2400" dirty="0">
              <a:solidFill>
                <a:schemeClr val="bg1"/>
              </a:solidFill>
            </a:endParaRPr>
          </a:p>
          <a:p>
            <a:r>
              <a:rPr lang="en-US" sz="2400" dirty="0">
                <a:solidFill>
                  <a:schemeClr val="bg1"/>
                </a:solidFill>
              </a:rPr>
              <a:t>Carts shall travel at speeds that are consistent with the intended use of the path.  Speeds on walkways and in congested areas, shall be no faster than the pedestrian traffic.</a:t>
            </a:r>
          </a:p>
          <a:p>
            <a:endParaRPr lang="en-US" sz="2400" dirty="0">
              <a:solidFill>
                <a:schemeClr val="bg1"/>
              </a:solidFill>
            </a:endParaRPr>
          </a:p>
          <a:p>
            <a:r>
              <a:rPr lang="en-US" sz="2400" dirty="0">
                <a:solidFill>
                  <a:schemeClr val="bg1"/>
                </a:solidFill>
              </a:rPr>
              <a:t>Headphones, ear-bud and personal cell phone usage is prohibited while operating a cart.</a:t>
            </a:r>
          </a:p>
          <a:p>
            <a:endParaRPr lang="en-US" sz="2400" dirty="0">
              <a:solidFill>
                <a:schemeClr val="bg1"/>
              </a:solidFill>
            </a:endParaRPr>
          </a:p>
        </p:txBody>
      </p:sp>
    </p:spTree>
    <p:extLst>
      <p:ext uri="{BB962C8B-B14F-4D97-AF65-F5344CB8AC3E}">
        <p14:creationId xmlns:p14="http://schemas.microsoft.com/office/powerpoint/2010/main" val="332358417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Cart Operation</a:t>
            </a:r>
            <a:endParaRPr lang="en-US" sz="2400" dirty="0">
              <a:solidFill>
                <a:srgbClr val="FFFF00"/>
              </a:solidFill>
            </a:endParaRPr>
          </a:p>
        </p:txBody>
      </p:sp>
      <p:sp>
        <p:nvSpPr>
          <p:cNvPr id="3" name="Content Placeholder 2"/>
          <p:cNvSpPr>
            <a:spLocks noGrp="1"/>
          </p:cNvSpPr>
          <p:nvPr>
            <p:ph idx="1"/>
          </p:nvPr>
        </p:nvSpPr>
        <p:spPr/>
        <p:txBody>
          <a:bodyPr>
            <a:normAutofit/>
          </a:bodyPr>
          <a:lstStyle/>
          <a:p>
            <a:pPr lvl="0"/>
            <a:r>
              <a:rPr lang="en-US" sz="2400" dirty="0">
                <a:solidFill>
                  <a:schemeClr val="bg1"/>
                </a:solidFill>
              </a:rPr>
              <a:t>Carts are prohibited from operating on major roadways or University roadways with speed limits in excess of 25 mph, </a:t>
            </a:r>
            <a:r>
              <a:rPr lang="en-US" sz="2400" b="1" u="sng" dirty="0">
                <a:solidFill>
                  <a:schemeClr val="bg1"/>
                </a:solidFill>
              </a:rPr>
              <a:t>except</a:t>
            </a:r>
            <a:r>
              <a:rPr lang="en-US" sz="2400" dirty="0">
                <a:solidFill>
                  <a:schemeClr val="bg1"/>
                </a:solidFill>
              </a:rPr>
              <a:t> when crossing from one side of the street to another or where no adequate sidewalk exists. </a:t>
            </a:r>
          </a:p>
          <a:p>
            <a:pPr lvl="0"/>
            <a:endParaRPr lang="en-US" sz="2400" dirty="0">
              <a:solidFill>
                <a:schemeClr val="bg1"/>
              </a:solidFill>
            </a:endParaRPr>
          </a:p>
          <a:p>
            <a:r>
              <a:rPr lang="en-US" sz="2400" dirty="0">
                <a:solidFill>
                  <a:schemeClr val="bg1"/>
                </a:solidFill>
              </a:rPr>
              <a:t>All individuals must be seated when cart is in motion.  Hands, legs, feet and arms shall also be kept inside the cart. Both feet must remain on the floor of the cart.</a:t>
            </a:r>
          </a:p>
          <a:p>
            <a:pPr lvl="0"/>
            <a:endParaRPr lang="en-US" sz="2000" dirty="0">
              <a:solidFill>
                <a:schemeClr val="bg1"/>
              </a:solidFill>
            </a:endParaRPr>
          </a:p>
          <a:p>
            <a:endParaRPr lang="en-US" sz="2000" dirty="0">
              <a:solidFill>
                <a:schemeClr val="bg1"/>
              </a:solidFill>
            </a:endParaRPr>
          </a:p>
        </p:txBody>
      </p:sp>
    </p:spTree>
    <p:extLst>
      <p:ext uri="{BB962C8B-B14F-4D97-AF65-F5344CB8AC3E}">
        <p14:creationId xmlns:p14="http://schemas.microsoft.com/office/powerpoint/2010/main" val="42297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Cart Operation </a:t>
            </a:r>
            <a:endParaRPr lang="en-US" sz="2400" dirty="0">
              <a:solidFill>
                <a:srgbClr val="FFFF00"/>
              </a:solidFill>
            </a:endParaRPr>
          </a:p>
        </p:txBody>
      </p:sp>
      <p:sp>
        <p:nvSpPr>
          <p:cNvPr id="3" name="Content Placeholder 2"/>
          <p:cNvSpPr>
            <a:spLocks noGrp="1"/>
          </p:cNvSpPr>
          <p:nvPr>
            <p:ph sz="half" idx="1"/>
          </p:nvPr>
        </p:nvSpPr>
        <p:spPr/>
        <p:txBody>
          <a:bodyPr>
            <a:normAutofit/>
          </a:bodyPr>
          <a:lstStyle/>
          <a:p>
            <a:pPr lvl="0"/>
            <a:endParaRPr lang="en-US" sz="2200" dirty="0">
              <a:solidFill>
                <a:schemeClr val="bg1"/>
              </a:solidFill>
            </a:endParaRPr>
          </a:p>
          <a:p>
            <a:pPr lvl="0"/>
            <a:r>
              <a:rPr lang="en-US" sz="2200" dirty="0">
                <a:solidFill>
                  <a:schemeClr val="bg1"/>
                </a:solidFill>
              </a:rPr>
              <a:t>Carts shall not carry more passengers than seating provided.  </a:t>
            </a:r>
          </a:p>
          <a:p>
            <a:pPr lvl="0"/>
            <a:endParaRPr lang="en-US" sz="2200" dirty="0">
              <a:solidFill>
                <a:schemeClr val="bg1"/>
              </a:solidFill>
            </a:endParaRPr>
          </a:p>
          <a:p>
            <a:pPr lvl="0"/>
            <a:r>
              <a:rPr lang="en-US" sz="2200" dirty="0">
                <a:solidFill>
                  <a:schemeClr val="bg1"/>
                </a:solidFill>
              </a:rPr>
              <a:t>Tilt beds and flat beds are not permitted for passenger transport.</a:t>
            </a:r>
          </a:p>
          <a:p>
            <a:pPr lvl="0"/>
            <a:endParaRPr lang="en-US" sz="2200" dirty="0">
              <a:solidFill>
                <a:schemeClr val="bg1"/>
              </a:solidFill>
            </a:endParaRPr>
          </a:p>
          <a:p>
            <a:pPr lvl="0"/>
            <a:endParaRPr lang="en-US" sz="2000" dirty="0">
              <a:solidFill>
                <a:schemeClr val="bg1"/>
              </a:solidFill>
            </a:endParaRPr>
          </a:p>
          <a:p>
            <a:endParaRPr lang="en-US" sz="2000" dirty="0">
              <a:solidFill>
                <a:schemeClr val="bg1"/>
              </a:solidFill>
            </a:endParaRPr>
          </a:p>
        </p:txBody>
      </p:sp>
      <p:pic>
        <p:nvPicPr>
          <p:cNvPr id="1028" name="Picture 4" descr="Image result for people hanging out of a golf car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020886" y="1569731"/>
            <a:ext cx="3031375" cy="4676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456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Transporting Materials</a:t>
            </a:r>
          </a:p>
        </p:txBody>
      </p:sp>
      <p:sp>
        <p:nvSpPr>
          <p:cNvPr id="3" name="Content Placeholder 2"/>
          <p:cNvSpPr>
            <a:spLocks noGrp="1"/>
          </p:cNvSpPr>
          <p:nvPr>
            <p:ph idx="1"/>
          </p:nvPr>
        </p:nvSpPr>
        <p:spPr/>
        <p:txBody>
          <a:bodyPr>
            <a:normAutofit/>
          </a:bodyPr>
          <a:lstStyle/>
          <a:p>
            <a:r>
              <a:rPr lang="en-US" dirty="0">
                <a:solidFill>
                  <a:schemeClr val="bg1"/>
                </a:solidFill>
              </a:rPr>
              <a:t>Do not exceed the weight recommended by the manufacturer.</a:t>
            </a:r>
          </a:p>
          <a:p>
            <a:endParaRPr lang="en-US" dirty="0">
              <a:solidFill>
                <a:schemeClr val="bg1"/>
              </a:solidFill>
            </a:endParaRPr>
          </a:p>
          <a:p>
            <a:r>
              <a:rPr lang="en-US" dirty="0">
                <a:solidFill>
                  <a:schemeClr val="bg1"/>
                </a:solidFill>
              </a:rPr>
              <a:t>Loads that extend more than 3 feet from the back of the cart must be flagged.</a:t>
            </a:r>
          </a:p>
          <a:p>
            <a:endParaRPr lang="en-US" dirty="0">
              <a:solidFill>
                <a:schemeClr val="bg1"/>
              </a:solidFill>
            </a:endParaRPr>
          </a:p>
          <a:p>
            <a:r>
              <a:rPr lang="en-US" dirty="0">
                <a:solidFill>
                  <a:schemeClr val="bg1"/>
                </a:solidFill>
              </a:rPr>
              <a:t>Loads may not extend more than one foot from either side of the cart.</a:t>
            </a:r>
          </a:p>
          <a:p>
            <a:endParaRPr lang="en-US" dirty="0"/>
          </a:p>
        </p:txBody>
      </p:sp>
    </p:spTree>
    <p:extLst>
      <p:ext uri="{BB962C8B-B14F-4D97-AF65-F5344CB8AC3E}">
        <p14:creationId xmlns:p14="http://schemas.microsoft.com/office/powerpoint/2010/main" val="68886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FFFF00"/>
                </a:solidFill>
                <a:latin typeface="+mn-lt"/>
              </a:rPr>
              <a:t>Leaving the Vehicle Unattended</a:t>
            </a:r>
          </a:p>
        </p:txBody>
      </p:sp>
      <p:sp>
        <p:nvSpPr>
          <p:cNvPr id="6" name="Content Placeholder 5"/>
          <p:cNvSpPr>
            <a:spLocks noGrp="1"/>
          </p:cNvSpPr>
          <p:nvPr>
            <p:ph idx="1"/>
          </p:nvPr>
        </p:nvSpPr>
        <p:spPr>
          <a:xfrm>
            <a:off x="328308" y="1600200"/>
            <a:ext cx="4770165" cy="4525963"/>
          </a:xfrm>
        </p:spPr>
        <p:txBody>
          <a:bodyPr>
            <a:normAutofit/>
          </a:bodyPr>
          <a:lstStyle/>
          <a:p>
            <a:pPr>
              <a:lnSpc>
                <a:spcPct val="90000"/>
              </a:lnSpc>
            </a:pPr>
            <a:r>
              <a:rPr lang="en-US" sz="2400" dirty="0">
                <a:solidFill>
                  <a:schemeClr val="bg1"/>
                </a:solidFill>
              </a:rPr>
              <a:t>Do not dismount vehicle before it has come to a complete stop.</a:t>
            </a:r>
          </a:p>
          <a:p>
            <a:pPr>
              <a:lnSpc>
                <a:spcPct val="90000"/>
              </a:lnSpc>
            </a:pPr>
            <a:endParaRPr lang="en-US" sz="2400" dirty="0">
              <a:solidFill>
                <a:schemeClr val="bg1"/>
              </a:solidFill>
            </a:endParaRPr>
          </a:p>
          <a:p>
            <a:pPr>
              <a:lnSpc>
                <a:spcPct val="90000"/>
              </a:lnSpc>
            </a:pPr>
            <a:r>
              <a:rPr lang="en-US" sz="2400" dirty="0">
                <a:solidFill>
                  <a:schemeClr val="bg1"/>
                </a:solidFill>
              </a:rPr>
              <a:t>Park in a safe place.</a:t>
            </a:r>
          </a:p>
          <a:p>
            <a:pPr>
              <a:lnSpc>
                <a:spcPct val="90000"/>
              </a:lnSpc>
            </a:pPr>
            <a:endParaRPr lang="en-US" sz="2400" dirty="0">
              <a:solidFill>
                <a:schemeClr val="bg1"/>
              </a:solidFill>
            </a:endParaRPr>
          </a:p>
          <a:p>
            <a:pPr>
              <a:lnSpc>
                <a:spcPct val="90000"/>
              </a:lnSpc>
            </a:pPr>
            <a:r>
              <a:rPr lang="en-US" sz="2400" dirty="0">
                <a:solidFill>
                  <a:schemeClr val="bg1"/>
                </a:solidFill>
              </a:rPr>
              <a:t>Engage the brake.</a:t>
            </a:r>
          </a:p>
          <a:p>
            <a:pPr>
              <a:lnSpc>
                <a:spcPct val="90000"/>
              </a:lnSpc>
            </a:pPr>
            <a:endParaRPr lang="en-US" sz="2400" dirty="0">
              <a:solidFill>
                <a:schemeClr val="bg1"/>
              </a:solidFill>
            </a:endParaRPr>
          </a:p>
          <a:p>
            <a:pPr>
              <a:lnSpc>
                <a:spcPct val="90000"/>
              </a:lnSpc>
            </a:pPr>
            <a:r>
              <a:rPr lang="en-US" sz="2400" dirty="0">
                <a:solidFill>
                  <a:schemeClr val="bg1"/>
                </a:solidFill>
              </a:rPr>
              <a:t>Turn off the engine.</a:t>
            </a:r>
          </a:p>
          <a:p>
            <a:pPr>
              <a:lnSpc>
                <a:spcPct val="90000"/>
              </a:lnSpc>
            </a:pPr>
            <a:endParaRPr lang="en-US" sz="2400" dirty="0">
              <a:solidFill>
                <a:schemeClr val="bg1"/>
              </a:solidFill>
            </a:endParaRPr>
          </a:p>
          <a:p>
            <a:pPr>
              <a:lnSpc>
                <a:spcPct val="90000"/>
              </a:lnSpc>
            </a:pPr>
            <a:r>
              <a:rPr lang="en-US" sz="2400" dirty="0">
                <a:solidFill>
                  <a:schemeClr val="bg1"/>
                </a:solidFill>
              </a:rPr>
              <a:t>Take the key.</a:t>
            </a:r>
          </a:p>
          <a:p>
            <a:endParaRPr lang="en-US" dirty="0"/>
          </a:p>
        </p:txBody>
      </p:sp>
      <p:pic>
        <p:nvPicPr>
          <p:cNvPr id="8" name="Picture 6" descr="MVC-017F"/>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bwMode="auto">
          <a:xfrm>
            <a:off x="6096000" y="13716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descr="MVC-025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4564" y="3701053"/>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07893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Accident Reporting</a:t>
            </a:r>
          </a:p>
        </p:txBody>
      </p:sp>
      <p:sp>
        <p:nvSpPr>
          <p:cNvPr id="3" name="Content Placeholder 2"/>
          <p:cNvSpPr>
            <a:spLocks noGrp="1"/>
          </p:cNvSpPr>
          <p:nvPr>
            <p:ph idx="1"/>
          </p:nvPr>
        </p:nvSpPr>
        <p:spPr/>
        <p:txBody>
          <a:bodyPr>
            <a:normAutofit fontScale="62500" lnSpcReduction="20000"/>
          </a:bodyPr>
          <a:lstStyle/>
          <a:p>
            <a:pPr lvl="0"/>
            <a:r>
              <a:rPr lang="en-US" dirty="0">
                <a:solidFill>
                  <a:schemeClr val="bg1"/>
                </a:solidFill>
              </a:rPr>
              <a:t>All cart accidents shall be promptly reported to the University Police or local authorities if it involves a third party or property damage.   </a:t>
            </a:r>
          </a:p>
          <a:p>
            <a:pPr marL="0" lvl="0" indent="0">
              <a:buNone/>
            </a:pPr>
            <a:endParaRPr lang="en-US" dirty="0">
              <a:solidFill>
                <a:schemeClr val="bg1"/>
              </a:solidFill>
            </a:endParaRPr>
          </a:p>
          <a:p>
            <a:pPr lvl="0"/>
            <a:r>
              <a:rPr lang="en-US" dirty="0">
                <a:solidFill>
                  <a:schemeClr val="bg1"/>
                </a:solidFill>
              </a:rPr>
              <a:t>The University Motor Vehicle Accident Report form (</a:t>
            </a:r>
            <a:r>
              <a:rPr lang="en-US" u="sng" dirty="0">
                <a:solidFill>
                  <a:schemeClr val="bg1"/>
                </a:solidFill>
                <a:uFill>
                  <a:solidFill>
                    <a:schemeClr val="bg1"/>
                  </a:solidFill>
                </a:uFill>
              </a:rPr>
              <a:t>http://www.uky.edu/eForms/forms/VehicleAccidentReportForm.pdf</a:t>
            </a:r>
            <a:r>
              <a:rPr lang="en-US" dirty="0">
                <a:solidFill>
                  <a:schemeClr val="bg1"/>
                </a:solidFill>
              </a:rPr>
              <a:t>) shall be completed as close to the time of accident as practical, providing all information and complete details.</a:t>
            </a:r>
          </a:p>
          <a:p>
            <a:pPr marL="0" indent="0">
              <a:buNone/>
            </a:pPr>
            <a:r>
              <a:rPr lang="en-US" dirty="0">
                <a:solidFill>
                  <a:schemeClr val="bg1"/>
                </a:solidFill>
              </a:rPr>
              <a:t> </a:t>
            </a:r>
          </a:p>
          <a:p>
            <a:pPr lvl="0"/>
            <a:r>
              <a:rPr lang="en-US" dirty="0">
                <a:solidFill>
                  <a:schemeClr val="bg1"/>
                </a:solidFill>
              </a:rPr>
              <a:t>Operators shall immediately report all accidents to their supervisor.  Supervisors are responsible for reporting the accident to UK Workers Care by calling 1-800-440-6285.  </a:t>
            </a:r>
          </a:p>
          <a:p>
            <a:pPr marL="0" indent="0">
              <a:buNone/>
            </a:pPr>
            <a:r>
              <a:rPr lang="en-US" dirty="0">
                <a:solidFill>
                  <a:schemeClr val="bg1"/>
                </a:solidFill>
              </a:rPr>
              <a:t> </a:t>
            </a:r>
          </a:p>
          <a:p>
            <a:pPr lvl="0"/>
            <a:r>
              <a:rPr lang="en-US" dirty="0">
                <a:solidFill>
                  <a:schemeClr val="bg1"/>
                </a:solidFill>
              </a:rPr>
              <a:t>If a cart accident results in an injury to student or visitor, it shall be reported using the University’s Accident-Occupational Injury/Illness Report.  The report can be found at (</a:t>
            </a:r>
            <a:r>
              <a:rPr lang="en-US" u="sng" dirty="0">
                <a:solidFill>
                  <a:schemeClr val="bg1"/>
                </a:solidFill>
              </a:rPr>
              <a:t>http://ehs.uky.edu/ohs/accident.php</a:t>
            </a:r>
            <a:r>
              <a:rPr lang="en-US" dirty="0">
                <a:solidFill>
                  <a:schemeClr val="bg1"/>
                </a:solidFill>
              </a:rPr>
              <a:t>) </a:t>
            </a:r>
          </a:p>
          <a:p>
            <a:endParaRPr lang="en-US" dirty="0">
              <a:solidFill>
                <a:schemeClr val="bg1"/>
              </a:solidFill>
            </a:endParaRPr>
          </a:p>
        </p:txBody>
      </p:sp>
    </p:spTree>
    <p:extLst>
      <p:ext uri="{BB962C8B-B14F-4D97-AF65-F5344CB8AC3E}">
        <p14:creationId xmlns:p14="http://schemas.microsoft.com/office/powerpoint/2010/main" val="39817532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Cart Storage</a:t>
            </a:r>
          </a:p>
        </p:txBody>
      </p:sp>
      <p:sp>
        <p:nvSpPr>
          <p:cNvPr id="3" name="Content Placeholder 2"/>
          <p:cNvSpPr>
            <a:spLocks noGrp="1"/>
          </p:cNvSpPr>
          <p:nvPr>
            <p:ph idx="1"/>
          </p:nvPr>
        </p:nvSpPr>
        <p:spPr/>
        <p:txBody>
          <a:bodyPr/>
          <a:lstStyle/>
          <a:p>
            <a:pPr lvl="0"/>
            <a:r>
              <a:rPr lang="en-US" sz="2400" dirty="0">
                <a:solidFill>
                  <a:schemeClr val="bg1"/>
                </a:solidFill>
              </a:rPr>
              <a:t>The department to which the unit is registered is responsible for cart storage.</a:t>
            </a:r>
          </a:p>
          <a:p>
            <a:pPr marL="0" lvl="0" indent="0">
              <a:buNone/>
            </a:pPr>
            <a:r>
              <a:rPr lang="en-US" sz="2400" dirty="0">
                <a:solidFill>
                  <a:schemeClr val="bg1"/>
                </a:solidFill>
              </a:rPr>
              <a:t> </a:t>
            </a:r>
          </a:p>
          <a:p>
            <a:pPr lvl="0"/>
            <a:r>
              <a:rPr lang="en-US" sz="2400" dirty="0">
                <a:solidFill>
                  <a:schemeClr val="bg1"/>
                </a:solidFill>
              </a:rPr>
              <a:t>Whenever possible, the cart shall be stored in an area that allows for battery recharging and to shields the cart from inclement weather.</a:t>
            </a:r>
          </a:p>
          <a:p>
            <a:pPr marL="0" lvl="0" indent="0">
              <a:buNone/>
            </a:pPr>
            <a:endParaRPr lang="en-US" sz="2400" dirty="0">
              <a:solidFill>
                <a:schemeClr val="bg1"/>
              </a:solidFill>
            </a:endParaRPr>
          </a:p>
          <a:p>
            <a:pPr lvl="0"/>
            <a:r>
              <a:rPr lang="en-US" sz="2400" dirty="0">
                <a:solidFill>
                  <a:schemeClr val="bg1"/>
                </a:solidFill>
              </a:rPr>
              <a:t>Gasoline powered carts shall not be stored inside a building unless given authorization by UK Fire Marshal’s Office.    </a:t>
            </a:r>
          </a:p>
          <a:p>
            <a:endParaRPr lang="en-US" dirty="0"/>
          </a:p>
        </p:txBody>
      </p:sp>
    </p:spTree>
    <p:extLst>
      <p:ext uri="{BB962C8B-B14F-4D97-AF65-F5344CB8AC3E}">
        <p14:creationId xmlns:p14="http://schemas.microsoft.com/office/powerpoint/2010/main" val="178607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latin typeface="+mn-lt"/>
              </a:rPr>
              <a:t>Cart Maintenance</a:t>
            </a:r>
          </a:p>
        </p:txBody>
      </p:sp>
      <p:sp>
        <p:nvSpPr>
          <p:cNvPr id="8" name="Content Placeholder 7"/>
          <p:cNvSpPr>
            <a:spLocks noGrp="1"/>
          </p:cNvSpPr>
          <p:nvPr>
            <p:ph idx="1"/>
          </p:nvPr>
        </p:nvSpPr>
        <p:spPr/>
        <p:txBody>
          <a:bodyPr/>
          <a:lstStyle/>
          <a:p>
            <a:pPr marL="0" indent="0">
              <a:buNone/>
            </a:pPr>
            <a:r>
              <a:rPr lang="en-US" dirty="0">
                <a:solidFill>
                  <a:schemeClr val="bg1"/>
                </a:solidFill>
              </a:rPr>
              <a:t>Departments are responsible for:</a:t>
            </a:r>
          </a:p>
          <a:p>
            <a:r>
              <a:rPr lang="en-US" sz="2400" dirty="0">
                <a:solidFill>
                  <a:schemeClr val="bg1"/>
                </a:solidFill>
              </a:rPr>
              <a:t>Repairs and regular maintenance </a:t>
            </a:r>
          </a:p>
          <a:p>
            <a:r>
              <a:rPr lang="en-US" sz="2400" dirty="0">
                <a:solidFill>
                  <a:schemeClr val="bg1"/>
                </a:solidFill>
              </a:rPr>
              <a:t>Service checks</a:t>
            </a:r>
          </a:p>
          <a:p>
            <a:endParaRPr lang="en-US" dirty="0">
              <a:solidFill>
                <a:schemeClr val="bg1"/>
              </a:solidFill>
            </a:endParaRPr>
          </a:p>
          <a:p>
            <a:pPr marL="0" indent="0">
              <a:buNone/>
            </a:pPr>
            <a:r>
              <a:rPr lang="en-US" dirty="0">
                <a:solidFill>
                  <a:schemeClr val="bg1"/>
                </a:solidFill>
              </a:rPr>
              <a:t>Operators are responsible for:</a:t>
            </a:r>
          </a:p>
          <a:p>
            <a:r>
              <a:rPr lang="en-US" sz="2400" dirty="0">
                <a:solidFill>
                  <a:schemeClr val="bg1"/>
                </a:solidFill>
              </a:rPr>
              <a:t>Performing a safety check prior to operation</a:t>
            </a:r>
          </a:p>
        </p:txBody>
      </p:sp>
    </p:spTree>
    <p:extLst>
      <p:ext uri="{BB962C8B-B14F-4D97-AF65-F5344CB8AC3E}">
        <p14:creationId xmlns:p14="http://schemas.microsoft.com/office/powerpoint/2010/main" val="2066064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Recharging and Refueling</a:t>
            </a:r>
          </a:p>
        </p:txBody>
      </p:sp>
      <p:sp>
        <p:nvSpPr>
          <p:cNvPr id="3" name="Content Placeholder 2"/>
          <p:cNvSpPr>
            <a:spLocks noGrp="1"/>
          </p:cNvSpPr>
          <p:nvPr>
            <p:ph idx="1"/>
          </p:nvPr>
        </p:nvSpPr>
        <p:spPr/>
        <p:txBody>
          <a:bodyPr>
            <a:normAutofit/>
          </a:bodyPr>
          <a:lstStyle/>
          <a:p>
            <a:r>
              <a:rPr lang="en-US" sz="3000" dirty="0">
                <a:solidFill>
                  <a:schemeClr val="bg1"/>
                </a:solidFill>
              </a:rPr>
              <a:t>Refer to the owner’s manual for correct charging and/or refueling procedures.</a:t>
            </a:r>
          </a:p>
          <a:p>
            <a:r>
              <a:rPr lang="en-US" sz="3000" dirty="0">
                <a:solidFill>
                  <a:schemeClr val="bg1"/>
                </a:solidFill>
              </a:rPr>
              <a:t>Never use the cart batteries to power other devices or remove for any reason other than to perform maintenance or replacement by a person trained and authorized to perform such work. Never attempt to check or add fluid/electrolyte to a battery.</a:t>
            </a:r>
          </a:p>
        </p:txBody>
      </p:sp>
    </p:spTree>
    <p:extLst>
      <p:ext uri="{BB962C8B-B14F-4D97-AF65-F5344CB8AC3E}">
        <p14:creationId xmlns:p14="http://schemas.microsoft.com/office/powerpoint/2010/main" val="4127531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Recharging and Refueling</a:t>
            </a:r>
          </a:p>
        </p:txBody>
      </p:sp>
      <p:sp>
        <p:nvSpPr>
          <p:cNvPr id="3" name="Content Placeholder 2"/>
          <p:cNvSpPr>
            <a:spLocks noGrp="1"/>
          </p:cNvSpPr>
          <p:nvPr>
            <p:ph idx="1"/>
          </p:nvPr>
        </p:nvSpPr>
        <p:spPr/>
        <p:txBody>
          <a:bodyPr>
            <a:normAutofit/>
          </a:bodyPr>
          <a:lstStyle/>
          <a:p>
            <a:r>
              <a:rPr lang="en-US" sz="2400" dirty="0">
                <a:solidFill>
                  <a:schemeClr val="bg1"/>
                </a:solidFill>
              </a:rPr>
              <a:t>Recharge carts powered by rechargeable batteries at designated, well-ventilated locations per the manufacturer’s guidelines using ground-fault interrupter receptacles.</a:t>
            </a:r>
          </a:p>
          <a:p>
            <a:endParaRPr lang="en-US" sz="2400" dirty="0">
              <a:solidFill>
                <a:schemeClr val="bg1"/>
              </a:solidFill>
            </a:endParaRPr>
          </a:p>
          <a:p>
            <a:r>
              <a:rPr lang="en-US" sz="2400" dirty="0">
                <a:solidFill>
                  <a:schemeClr val="bg1"/>
                </a:solidFill>
              </a:rPr>
              <a:t>Avoid the use of an extension cord with the charger if possible. If an extension cord must be utilized, use a three conductor, No. 12AWG heavy duty cord with a ground conductor in good electrical condition.</a:t>
            </a:r>
          </a:p>
        </p:txBody>
      </p:sp>
    </p:spTree>
    <p:extLst>
      <p:ext uri="{BB962C8B-B14F-4D97-AF65-F5344CB8AC3E}">
        <p14:creationId xmlns:p14="http://schemas.microsoft.com/office/powerpoint/2010/main" val="3519728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167" y="274638"/>
            <a:ext cx="6820632" cy="565959"/>
          </a:xfrm>
        </p:spPr>
        <p:txBody>
          <a:bodyPr/>
          <a:lstStyle/>
          <a:p>
            <a:r>
              <a:rPr lang="en-US" dirty="0">
                <a:solidFill>
                  <a:srgbClr val="FFFF00"/>
                </a:solidFill>
              </a:rPr>
              <a:t>Review</a:t>
            </a:r>
          </a:p>
        </p:txBody>
      </p:sp>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98943" y="1975078"/>
            <a:ext cx="2117538" cy="1588154"/>
          </a:xfrm>
        </p:spPr>
      </p:pic>
      <p:pic>
        <p:nvPicPr>
          <p:cNvPr id="8" name="Content Placeholder 7"/>
          <p:cNvPicPr>
            <a:picLocks noGrp="1" noChangeAspect="1"/>
          </p:cNvPicPr>
          <p:nvPr>
            <p:ph sz="half" idx="4294967295"/>
          </p:nvPr>
        </p:nvPicPr>
        <p:blipFill>
          <a:blip r:embed="rId4" cstate="print">
            <a:extLst>
              <a:ext uri="{28A0092B-C50C-407E-A947-70E740481C1C}">
                <a14:useLocalDpi xmlns:a14="http://schemas.microsoft.com/office/drawing/2010/main" val="0"/>
              </a:ext>
            </a:extLst>
          </a:blip>
          <a:stretch>
            <a:fillRect/>
          </a:stretch>
        </p:blipFill>
        <p:spPr>
          <a:xfrm>
            <a:off x="0" y="3765550"/>
            <a:ext cx="2438400" cy="1714500"/>
          </a:xfrm>
        </p:spPr>
      </p:pic>
      <p:sp>
        <p:nvSpPr>
          <p:cNvPr id="12" name="Rectangle 11"/>
          <p:cNvSpPr/>
          <p:nvPr/>
        </p:nvSpPr>
        <p:spPr>
          <a:xfrm>
            <a:off x="3103419" y="840597"/>
            <a:ext cx="5092931" cy="6124754"/>
          </a:xfrm>
          <a:prstGeom prst="rect">
            <a:avLst/>
          </a:prstGeom>
        </p:spPr>
        <p:txBody>
          <a:bodyPr wrap="square">
            <a:spAutoFit/>
          </a:bodyPr>
          <a:lstStyle/>
          <a:p>
            <a:pPr marL="342900" indent="-342900">
              <a:buFont typeface="Arial" panose="020B0604020202020204" pitchFamily="34" charset="0"/>
              <a:buChar char="•"/>
            </a:pPr>
            <a:r>
              <a:rPr lang="en-US" sz="2200" dirty="0">
                <a:solidFill>
                  <a:schemeClr val="bg1"/>
                </a:solidFill>
                <a:latin typeface="Mercury Display"/>
              </a:rPr>
              <a:t>Know the vehicle you are driving.</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Perform a pre-trip inspection.</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Be aware of your surroundings.</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Drive responsibly and safe.</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Ensure maintenance is conducted.</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Store cart in accordance with UK Policy.</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Recharge or refuel cart according to manufacturer’s recommendations.</a:t>
            </a:r>
          </a:p>
          <a:p>
            <a:pPr marL="342900" indent="-342900">
              <a:buFont typeface="Arial" panose="020B0604020202020204" pitchFamily="34" charset="0"/>
              <a:buChar char="•"/>
            </a:pPr>
            <a:endParaRPr lang="en-US" sz="2200" dirty="0">
              <a:solidFill>
                <a:schemeClr val="bg1"/>
              </a:solidFill>
              <a:latin typeface="Mercury Display"/>
            </a:endParaRPr>
          </a:p>
          <a:p>
            <a:pPr marL="342900" indent="-342900">
              <a:buFont typeface="Arial" panose="020B0604020202020204" pitchFamily="34" charset="0"/>
              <a:buChar char="•"/>
            </a:pPr>
            <a:r>
              <a:rPr lang="en-US" sz="2200" dirty="0">
                <a:solidFill>
                  <a:schemeClr val="bg1"/>
                </a:solidFill>
                <a:latin typeface="Mercury Display"/>
              </a:rPr>
              <a:t>Report any cart related incidents.</a:t>
            </a:r>
          </a:p>
          <a:p>
            <a:pPr marL="285750" indent="-285750">
              <a:lnSpc>
                <a:spcPct val="90000"/>
              </a:lnSpc>
              <a:buFont typeface="Arial" pitchFamily="34" charset="0"/>
              <a:buChar char="•"/>
            </a:pPr>
            <a:endParaRPr lang="en-US" sz="2000" dirty="0">
              <a:solidFill>
                <a:schemeClr val="bg1"/>
              </a:solidFill>
              <a:latin typeface="Mercury Display"/>
            </a:endParaRPr>
          </a:p>
        </p:txBody>
      </p:sp>
    </p:spTree>
    <p:extLst>
      <p:ext uri="{BB962C8B-B14F-4D97-AF65-F5344CB8AC3E}">
        <p14:creationId xmlns:p14="http://schemas.microsoft.com/office/powerpoint/2010/main" val="3416326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Quiz</a:t>
            </a:r>
          </a:p>
        </p:txBody>
      </p:sp>
      <p:sp>
        <p:nvSpPr>
          <p:cNvPr id="3" name="Content Placeholder 2"/>
          <p:cNvSpPr>
            <a:spLocks noGrp="1"/>
          </p:cNvSpPr>
          <p:nvPr>
            <p:ph idx="1"/>
          </p:nvPr>
        </p:nvSpPr>
        <p:spPr/>
        <p:txBody>
          <a:bodyPr>
            <a:normAutofit/>
          </a:bodyPr>
          <a:lstStyle/>
          <a:p>
            <a:pPr marL="400050" lvl="1" indent="0">
              <a:buNone/>
            </a:pPr>
            <a:r>
              <a:rPr lang="en-US" sz="2000" dirty="0">
                <a:solidFill>
                  <a:schemeClr val="bg1"/>
                </a:solidFill>
              </a:rPr>
              <a:t>1. (T or F) You must possess a valid driver’s license to operate a utility cart on University of Kentucky’s campus.</a:t>
            </a:r>
          </a:p>
          <a:p>
            <a:pPr marL="400050" lvl="1" indent="0">
              <a:buNone/>
            </a:pPr>
            <a:endParaRPr lang="en-US" sz="2000" dirty="0">
              <a:solidFill>
                <a:schemeClr val="bg1"/>
              </a:solidFill>
            </a:endParaRPr>
          </a:p>
          <a:p>
            <a:pPr marL="400050" lvl="1" indent="0">
              <a:buNone/>
            </a:pPr>
            <a:r>
              <a:rPr lang="en-US" sz="2000" dirty="0">
                <a:solidFill>
                  <a:schemeClr val="bg1"/>
                </a:solidFill>
              </a:rPr>
              <a:t>2. What type of equipment must a University of Kentucky owned utility cart have installed?</a:t>
            </a:r>
          </a:p>
          <a:p>
            <a:pPr lvl="1"/>
            <a:r>
              <a:rPr lang="en-US" sz="1800" dirty="0">
                <a:solidFill>
                  <a:schemeClr val="bg1"/>
                </a:solidFill>
              </a:rPr>
              <a:t>Horn</a:t>
            </a:r>
          </a:p>
          <a:p>
            <a:pPr lvl="1"/>
            <a:r>
              <a:rPr lang="en-US" sz="1800" dirty="0">
                <a:solidFill>
                  <a:schemeClr val="bg1"/>
                </a:solidFill>
              </a:rPr>
              <a:t>Parking brake</a:t>
            </a:r>
          </a:p>
          <a:p>
            <a:pPr lvl="1"/>
            <a:r>
              <a:rPr lang="en-US" sz="1800" dirty="0">
                <a:solidFill>
                  <a:schemeClr val="bg1"/>
                </a:solidFill>
              </a:rPr>
              <a:t>Department name clearly marked in at least 2 inch lettering</a:t>
            </a:r>
          </a:p>
          <a:p>
            <a:pPr lvl="1"/>
            <a:r>
              <a:rPr lang="en-US" sz="1800" dirty="0">
                <a:solidFill>
                  <a:schemeClr val="bg1"/>
                </a:solidFill>
              </a:rPr>
              <a:t>Ignition on/off key</a:t>
            </a:r>
          </a:p>
          <a:p>
            <a:pPr lvl="1"/>
            <a:r>
              <a:rPr lang="en-US" sz="1800" dirty="0">
                <a:solidFill>
                  <a:schemeClr val="bg1"/>
                </a:solidFill>
              </a:rPr>
              <a:t>All of the above </a:t>
            </a:r>
          </a:p>
        </p:txBody>
      </p:sp>
    </p:spTree>
    <p:extLst>
      <p:ext uri="{BB962C8B-B14F-4D97-AF65-F5344CB8AC3E}">
        <p14:creationId xmlns:p14="http://schemas.microsoft.com/office/powerpoint/2010/main" val="1294667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Quiz</a:t>
            </a:r>
          </a:p>
        </p:txBody>
      </p:sp>
      <p:sp>
        <p:nvSpPr>
          <p:cNvPr id="3" name="Content Placeholder 2"/>
          <p:cNvSpPr>
            <a:spLocks noGrp="1"/>
          </p:cNvSpPr>
          <p:nvPr>
            <p:ph idx="1"/>
          </p:nvPr>
        </p:nvSpPr>
        <p:spPr/>
        <p:txBody>
          <a:bodyPr/>
          <a:lstStyle/>
          <a:p>
            <a:pPr marL="0" lvl="0" indent="0">
              <a:buNone/>
            </a:pPr>
            <a:r>
              <a:rPr lang="en-US" sz="2000" dirty="0">
                <a:solidFill>
                  <a:schemeClr val="bg1"/>
                </a:solidFill>
              </a:rPr>
              <a:t>3. (T or F) Pedestrians shall be afforded the right-of-way at all times.</a:t>
            </a:r>
          </a:p>
          <a:p>
            <a:pPr marL="0" lvl="0" indent="0">
              <a:buNone/>
            </a:pPr>
            <a:endParaRPr lang="en-US" sz="2000" dirty="0">
              <a:solidFill>
                <a:schemeClr val="bg1"/>
              </a:solidFill>
            </a:endParaRPr>
          </a:p>
          <a:p>
            <a:pPr marL="0" lvl="0" indent="0">
              <a:buNone/>
            </a:pPr>
            <a:r>
              <a:rPr lang="en-US" sz="2000" dirty="0">
                <a:solidFill>
                  <a:schemeClr val="bg1"/>
                </a:solidFill>
              </a:rPr>
              <a:t>4. (T or F) Headphones, ear-bud, and personal cell phone usage is prohibited while operating cart.</a:t>
            </a:r>
          </a:p>
          <a:p>
            <a:pPr marL="0" indent="0">
              <a:buNone/>
            </a:pPr>
            <a:endParaRPr lang="en-US" sz="2000" dirty="0">
              <a:solidFill>
                <a:schemeClr val="bg1"/>
              </a:solidFill>
            </a:endParaRPr>
          </a:p>
          <a:p>
            <a:pPr marL="0" indent="0">
              <a:buNone/>
            </a:pPr>
            <a:r>
              <a:rPr lang="en-US" sz="2000" dirty="0">
                <a:solidFill>
                  <a:schemeClr val="bg1"/>
                </a:solidFill>
              </a:rPr>
              <a:t>5. What must you do when you are leaving the cart unattended?</a:t>
            </a:r>
          </a:p>
          <a:p>
            <a:pPr marL="0" lvl="0" indent="0">
              <a:buNone/>
            </a:pPr>
            <a:r>
              <a:rPr lang="en-US" sz="2000" dirty="0">
                <a:solidFill>
                  <a:schemeClr val="bg1"/>
                </a:solidFill>
              </a:rPr>
              <a:t>	</a:t>
            </a:r>
            <a:r>
              <a:rPr lang="en-US" sz="1800" dirty="0">
                <a:solidFill>
                  <a:schemeClr val="bg1"/>
                </a:solidFill>
              </a:rPr>
              <a:t>- Engage parking brake</a:t>
            </a:r>
          </a:p>
          <a:p>
            <a:pPr marL="0" lvl="0" indent="0">
              <a:buNone/>
            </a:pPr>
            <a:r>
              <a:rPr lang="en-US" sz="1800" dirty="0">
                <a:solidFill>
                  <a:schemeClr val="bg1"/>
                </a:solidFill>
              </a:rPr>
              <a:t>	- Turn off engine</a:t>
            </a:r>
          </a:p>
          <a:p>
            <a:pPr marL="0" lvl="0" indent="0">
              <a:buNone/>
            </a:pPr>
            <a:r>
              <a:rPr lang="en-US" sz="1800" dirty="0">
                <a:solidFill>
                  <a:schemeClr val="bg1"/>
                </a:solidFill>
              </a:rPr>
              <a:t>	- Take key</a:t>
            </a:r>
          </a:p>
          <a:p>
            <a:pPr marL="0" lvl="0" indent="0">
              <a:buNone/>
            </a:pPr>
            <a:r>
              <a:rPr lang="en-US" sz="1800" dirty="0">
                <a:solidFill>
                  <a:schemeClr val="bg1"/>
                </a:solidFill>
              </a:rPr>
              <a:t>	- All of the above</a:t>
            </a:r>
          </a:p>
          <a:p>
            <a:pPr marL="0" lvl="0" indent="0">
              <a:buNone/>
            </a:pPr>
            <a:endParaRPr lang="en-US" sz="2000" dirty="0"/>
          </a:p>
          <a:p>
            <a:pPr marL="0" indent="0" algn="ctr">
              <a:buNone/>
            </a:pPr>
            <a:endParaRPr lang="en-US" dirty="0"/>
          </a:p>
        </p:txBody>
      </p:sp>
    </p:spTree>
    <p:extLst>
      <p:ext uri="{BB962C8B-B14F-4D97-AF65-F5344CB8AC3E}">
        <p14:creationId xmlns:p14="http://schemas.microsoft.com/office/powerpoint/2010/main" val="315039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Quiz</a:t>
            </a:r>
          </a:p>
        </p:txBody>
      </p:sp>
      <p:sp>
        <p:nvSpPr>
          <p:cNvPr id="3" name="Content Placeholder 2"/>
          <p:cNvSpPr>
            <a:spLocks noGrp="1"/>
          </p:cNvSpPr>
          <p:nvPr>
            <p:ph idx="1"/>
          </p:nvPr>
        </p:nvSpPr>
        <p:spPr/>
        <p:txBody>
          <a:bodyPr>
            <a:normAutofit/>
          </a:bodyPr>
          <a:lstStyle/>
          <a:p>
            <a:pPr marL="0" indent="0">
              <a:buNone/>
            </a:pPr>
            <a:r>
              <a:rPr lang="en-US" sz="2000" dirty="0">
                <a:solidFill>
                  <a:schemeClr val="bg1"/>
                </a:solidFill>
              </a:rPr>
              <a:t>6. (T or F) UK employees are allowed to operate their personal utility cart on campus to conduct university business as long as the cart meets all UK standards</a:t>
            </a:r>
          </a:p>
          <a:p>
            <a:pPr marL="0" indent="0">
              <a:buNone/>
            </a:pPr>
            <a:endParaRPr lang="en-US" sz="2000" dirty="0">
              <a:solidFill>
                <a:schemeClr val="bg1"/>
              </a:solidFill>
            </a:endParaRPr>
          </a:p>
          <a:p>
            <a:pPr marL="0" indent="0">
              <a:buNone/>
            </a:pPr>
            <a:r>
              <a:rPr lang="en-US" sz="2000" dirty="0">
                <a:solidFill>
                  <a:schemeClr val="bg1"/>
                </a:solidFill>
              </a:rPr>
              <a:t>7. (T or F) Loads that extend more than 3ft from the back of the cart must be flagged.</a:t>
            </a:r>
          </a:p>
          <a:p>
            <a:pPr marL="0" indent="0">
              <a:buNone/>
            </a:pPr>
            <a:endParaRPr lang="en-US" sz="2000" dirty="0">
              <a:solidFill>
                <a:schemeClr val="bg1"/>
              </a:solidFill>
            </a:endParaRPr>
          </a:p>
          <a:p>
            <a:pPr marL="0" indent="0">
              <a:buNone/>
            </a:pPr>
            <a:r>
              <a:rPr lang="en-US" sz="2000" dirty="0">
                <a:solidFill>
                  <a:schemeClr val="bg1"/>
                </a:solidFill>
              </a:rPr>
              <a:t>8. (T or F) The department name shall clearly be marked on cart in at least two inch lettering. </a:t>
            </a:r>
          </a:p>
          <a:p>
            <a:pPr marL="0" indent="0" algn="ctr">
              <a:buNone/>
            </a:pPr>
            <a:endParaRPr lang="en-US" sz="2000" dirty="0">
              <a:solidFill>
                <a:schemeClr val="bg1"/>
              </a:solidFill>
            </a:endParaRPr>
          </a:p>
        </p:txBody>
      </p:sp>
    </p:spTree>
    <p:extLst>
      <p:ext uri="{BB962C8B-B14F-4D97-AF65-F5344CB8AC3E}">
        <p14:creationId xmlns:p14="http://schemas.microsoft.com/office/powerpoint/2010/main" val="3774627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solidFill>
              </a:rPr>
              <a:t>Quiz</a:t>
            </a:r>
          </a:p>
        </p:txBody>
      </p:sp>
      <p:sp>
        <p:nvSpPr>
          <p:cNvPr id="3" name="Content Placeholder 2"/>
          <p:cNvSpPr>
            <a:spLocks noGrp="1"/>
          </p:cNvSpPr>
          <p:nvPr>
            <p:ph idx="1"/>
          </p:nvPr>
        </p:nvSpPr>
        <p:spPr/>
        <p:txBody>
          <a:bodyPr/>
          <a:lstStyle/>
          <a:p>
            <a:pPr marL="0" indent="0">
              <a:buNone/>
            </a:pPr>
            <a:r>
              <a:rPr lang="en-US" sz="2000" dirty="0">
                <a:solidFill>
                  <a:schemeClr val="bg1"/>
                </a:solidFill>
              </a:rPr>
              <a:t>9. (T or F) Utility carts must yield the right of way to other motor vehicles</a:t>
            </a:r>
            <a:r>
              <a:rPr lang="en-US" dirty="0">
                <a:solidFill>
                  <a:schemeClr val="bg1"/>
                </a:solidFill>
              </a:rPr>
              <a:t>.</a:t>
            </a:r>
          </a:p>
          <a:p>
            <a:pPr marL="0" indent="0" algn="ctr">
              <a:buNone/>
            </a:pPr>
            <a:endParaRPr lang="en-US" sz="2000" dirty="0">
              <a:solidFill>
                <a:schemeClr val="bg1"/>
              </a:solidFill>
            </a:endParaRPr>
          </a:p>
          <a:p>
            <a:pPr marL="0" indent="0">
              <a:buNone/>
            </a:pPr>
            <a:r>
              <a:rPr lang="en-US" sz="2000" dirty="0">
                <a:solidFill>
                  <a:schemeClr val="bg1"/>
                </a:solidFill>
              </a:rPr>
              <a:t>10. (T or F) Tilt bed and flat beds can be used for passenger transport.</a:t>
            </a:r>
          </a:p>
        </p:txBody>
      </p:sp>
    </p:spTree>
    <p:extLst>
      <p:ext uri="{BB962C8B-B14F-4D97-AF65-F5344CB8AC3E}">
        <p14:creationId xmlns:p14="http://schemas.microsoft.com/office/powerpoint/2010/main" val="290280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defRPr/>
            </a:pPr>
            <a:r>
              <a:rPr lang="en-US" dirty="0">
                <a:solidFill>
                  <a:srgbClr val="FFFF00"/>
                </a:solidFill>
              </a:rPr>
              <a:t>Questions????	</a:t>
            </a:r>
          </a:p>
        </p:txBody>
      </p:sp>
      <p:sp>
        <p:nvSpPr>
          <p:cNvPr id="69635" name="Rectangle 3"/>
          <p:cNvSpPr>
            <a:spLocks noGrp="1" noChangeArrowheads="1"/>
          </p:cNvSpPr>
          <p:nvPr>
            <p:ph idx="1"/>
          </p:nvPr>
        </p:nvSpPr>
        <p:spPr/>
        <p:txBody>
          <a:bodyPr vert="horz" lIns="91440" tIns="45720" rIns="91440" bIns="45720" rtlCol="0" anchor="t">
            <a:normAutofit/>
          </a:bodyPr>
          <a:lstStyle/>
          <a:p>
            <a:pPr>
              <a:buNone/>
            </a:pPr>
            <a:r>
              <a:rPr lang="en-US" sz="2000" dirty="0">
                <a:solidFill>
                  <a:schemeClr val="bg1"/>
                </a:solidFill>
              </a:rPr>
              <a:t>UK Occupational Health &amp; Safety</a:t>
            </a:r>
          </a:p>
          <a:p>
            <a:pPr>
              <a:buNone/>
            </a:pPr>
            <a:r>
              <a:rPr lang="en-US" sz="2000" dirty="0">
                <a:solidFill>
                  <a:schemeClr val="bg1"/>
                </a:solidFill>
              </a:rPr>
              <a:t>252 East Maxwell Street</a:t>
            </a:r>
          </a:p>
          <a:p>
            <a:pPr>
              <a:buNone/>
            </a:pPr>
            <a:r>
              <a:rPr lang="en-US" sz="2000" dirty="0">
                <a:solidFill>
                  <a:schemeClr val="bg1"/>
                </a:solidFill>
              </a:rPr>
              <a:t>Lexington, KY 40506-0314 </a:t>
            </a:r>
          </a:p>
          <a:p>
            <a:pPr>
              <a:buNone/>
            </a:pPr>
            <a:r>
              <a:rPr lang="en-US" sz="2000" dirty="0">
                <a:solidFill>
                  <a:schemeClr val="bg1"/>
                </a:solidFill>
                <a:hlinkClick r:id="rId3" tooltip="http://ehs.uky.edu/"/>
              </a:rPr>
              <a:t>http://ehs.uky.edu</a:t>
            </a:r>
            <a:r>
              <a:rPr lang="en-US" sz="2000" dirty="0">
                <a:solidFill>
                  <a:schemeClr val="bg1"/>
                </a:solidFill>
              </a:rPr>
              <a:t>  </a:t>
            </a:r>
          </a:p>
          <a:p>
            <a:pPr eaLnBrk="1" hangingPunct="1">
              <a:buNone/>
              <a:defRPr/>
            </a:pPr>
            <a:endParaRPr lang="en-US" dirty="0">
              <a:solidFill>
                <a:schemeClr val="bg1"/>
              </a:solidFill>
            </a:endParaRPr>
          </a:p>
          <a:p>
            <a:pPr>
              <a:buNone/>
              <a:defRPr/>
            </a:pPr>
            <a:r>
              <a:rPr lang="en-US" sz="2000" dirty="0">
                <a:solidFill>
                  <a:schemeClr val="bg1"/>
                </a:solidFill>
              </a:rPr>
              <a:t>Michele Laur</a:t>
            </a:r>
          </a:p>
          <a:p>
            <a:pPr>
              <a:buNone/>
              <a:defRPr/>
            </a:pPr>
            <a:r>
              <a:rPr lang="en-US" sz="2000" dirty="0">
                <a:solidFill>
                  <a:schemeClr val="bg1"/>
                </a:solidFill>
              </a:rPr>
              <a:t>859 257-9739</a:t>
            </a:r>
          </a:p>
          <a:p>
            <a:pPr>
              <a:buNone/>
              <a:defRPr/>
            </a:pPr>
            <a:r>
              <a:rPr lang="en-US" sz="2000" dirty="0">
                <a:solidFill>
                  <a:schemeClr val="bg1"/>
                </a:solidFill>
              </a:rPr>
              <a:t>Mla263@uky.edu</a:t>
            </a:r>
          </a:p>
          <a:p>
            <a:pPr>
              <a:buNone/>
              <a:defRPr/>
            </a:pPr>
            <a:endParaRPr lang="en-US" dirty="0">
              <a:solidFill>
                <a:schemeClr val="bg1"/>
              </a:solidFill>
            </a:endParaRPr>
          </a:p>
        </p:txBody>
      </p:sp>
      <p:pic>
        <p:nvPicPr>
          <p:cNvPr id="5" name="Picture 5" descr="Cropped"/>
          <p:cNvPicPr>
            <a:picLocks noGrp="1" noChangeAspect="1" noChangeArrowheads="1"/>
          </p:cNvPicPr>
          <p:nvPr>
            <p:ph sz="half" idx="4294967295"/>
          </p:nvPr>
        </p:nvPicPr>
        <p:blipFill>
          <a:blip r:embed="rId4" cstate="print">
            <a:lum bright="-40000" contrast="-70000"/>
          </a:blip>
          <a:srcRect/>
          <a:stretch>
            <a:fillRect/>
          </a:stretch>
        </p:blipFill>
        <p:spPr bwMode="auto">
          <a:xfrm>
            <a:off x="5483225" y="1371600"/>
            <a:ext cx="3660775" cy="4049713"/>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39608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0938" y="1786759"/>
            <a:ext cx="3426372" cy="4044414"/>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1"/>
          <p:cNvSpPr>
            <a:spLocks noGrp="1"/>
          </p:cNvSpPr>
          <p:nvPr>
            <p:ph idx="1"/>
          </p:nvPr>
        </p:nvSpPr>
        <p:spPr/>
        <p:txBody>
          <a:bodyPr>
            <a:normAutofit/>
          </a:bodyPr>
          <a:lstStyle/>
          <a:p>
            <a:pPr marL="0" indent="0">
              <a:buNone/>
            </a:pPr>
            <a:r>
              <a:rPr lang="en-US" sz="4000" dirty="0"/>
              <a:t>Remember..</a:t>
            </a:r>
          </a:p>
          <a:p>
            <a:pPr marL="0" indent="0">
              <a:buNone/>
            </a:pPr>
            <a:endParaRPr lang="en-US" sz="4000" dirty="0"/>
          </a:p>
          <a:p>
            <a:pPr marL="0" indent="0">
              <a:buNone/>
            </a:pPr>
            <a:r>
              <a:rPr lang="en-US" sz="4000" dirty="0"/>
              <a:t>At UK Safety </a:t>
            </a:r>
          </a:p>
          <a:p>
            <a:pPr marL="0" indent="0">
              <a:buNone/>
            </a:pPr>
            <a:r>
              <a:rPr lang="en-US" sz="4000" dirty="0"/>
              <a:t>Begins With You!!</a:t>
            </a:r>
          </a:p>
        </p:txBody>
      </p:sp>
    </p:spTree>
    <p:extLst>
      <p:ext uri="{BB962C8B-B14F-4D97-AF65-F5344CB8AC3E}">
        <p14:creationId xmlns:p14="http://schemas.microsoft.com/office/powerpoint/2010/main" val="1456355899"/>
      </p:ext>
    </p:extLst>
  </p:cSld>
  <p:clrMapOvr>
    <a:masterClrMapping/>
  </p:clrMapOvr>
</p:sld>
</file>

<file path=ppt/theme/theme1.xml><?xml version="1.0" encoding="utf-8"?>
<a:theme xmlns:a="http://schemas.openxmlformats.org/drawingml/2006/main" name="UK Primary Gray Standard">
  <a:themeElements>
    <a:clrScheme name="UK Primary Palette">
      <a:dk1>
        <a:sysClr val="windowText" lastClr="000000"/>
      </a:dk1>
      <a:lt1>
        <a:sysClr val="window" lastClr="FFFFFF"/>
      </a:lt1>
      <a:dk2>
        <a:srgbClr val="0C377B"/>
      </a:dk2>
      <a:lt2>
        <a:srgbClr val="EEECE1"/>
      </a:lt2>
      <a:accent1>
        <a:srgbClr val="007CB7"/>
      </a:accent1>
      <a:accent2>
        <a:srgbClr val="162355"/>
      </a:accent2>
      <a:accent3>
        <a:srgbClr val="B8BAB3"/>
      </a:accent3>
      <a:accent4>
        <a:srgbClr val="4A4D4D"/>
      </a:accent4>
      <a:accent5>
        <a:srgbClr val="007CB7"/>
      </a:accent5>
      <a:accent6>
        <a:srgbClr val="0C377B"/>
      </a:accent6>
      <a:hlink>
        <a:srgbClr val="0C377B"/>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Equipment_x0020_Room_x0020_View xmlns="26f8c6f5-7bcd-41a7-b8e5-a936c67fb4b9">
      <Url xsi:nil="true"/>
      <Description xsi:nil="true"/>
    </Equipment_x0020_Room_x0020_View>
    <SharedWithUsers xmlns="e3938e53-0a01-4a4f-b8cf-9725ed08b4e6">
      <UserInfo>
        <DisplayName>Caskey, Damon V.</DisplayName>
        <AccountId>8</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53DFDF1AB36B843A1A9C10976A785C2" ma:contentTypeVersion="13" ma:contentTypeDescription="Create a new document." ma:contentTypeScope="" ma:versionID="1f05ad4b4c311d43be3e8caf466e7848">
  <xsd:schema xmlns:xsd="http://www.w3.org/2001/XMLSchema" xmlns:xs="http://www.w3.org/2001/XMLSchema" xmlns:p="http://schemas.microsoft.com/office/2006/metadata/properties" xmlns:ns2="26f8c6f5-7bcd-41a7-b8e5-a936c67fb4b9" xmlns:ns3="e3938e53-0a01-4a4f-b8cf-9725ed08b4e6" targetNamespace="http://schemas.microsoft.com/office/2006/metadata/properties" ma:root="true" ma:fieldsID="fe1c291f470387df63d33f1c606f1e68" ns2:_="" ns3:_="">
    <xsd:import namespace="26f8c6f5-7bcd-41a7-b8e5-a936c67fb4b9"/>
    <xsd:import namespace="e3938e53-0a01-4a4f-b8cf-9725ed08b4e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EventHashCode" minOccurs="0"/>
                <xsd:element ref="ns2:MediaServiceGenerationTime" minOccurs="0"/>
                <xsd:element ref="ns2:Equipment_x0020_Room_x0020_View"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f8c6f5-7bcd-41a7-b8e5-a936c67fb4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Location" ma:index="12" nillable="true" ma:displayName="MediaServiceLocation" ma:internalName="MediaServiceLocation"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Equipment_x0020_Room_x0020_View" ma:index="18" nillable="true" ma:displayName="Equipment Room View" ma:format="Image" ma:internalName="Equipment_x0020_Room_x0020_View">
      <xsd:complexType>
        <xsd:complexContent>
          <xsd:extension base="dms:URL">
            <xsd:sequence>
              <xsd:element name="Url" type="dms:ValidUrl" minOccurs="0" nillable="true"/>
              <xsd:element name="Description" type="xsd:string" nillable="true"/>
            </xsd:sequence>
          </xsd:extension>
        </xsd:complexContent>
      </xsd:complex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3938e53-0a01-4a4f-b8cf-9725ed08b4e6"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F12942-FA4B-4029-9D87-70832ECEFC1F}">
  <ds:schemaRefs>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purl.org/dc/terms/"/>
    <ds:schemaRef ds:uri="e3938e53-0a01-4a4f-b8cf-9725ed08b4e6"/>
    <ds:schemaRef ds:uri="26f8c6f5-7bcd-41a7-b8e5-a936c67fb4b9"/>
    <ds:schemaRef ds:uri="http://www.w3.org/XML/1998/namespace"/>
    <ds:schemaRef ds:uri="http://purl.org/dc/dcmitype/"/>
  </ds:schemaRefs>
</ds:datastoreItem>
</file>

<file path=customXml/itemProps2.xml><?xml version="1.0" encoding="utf-8"?>
<ds:datastoreItem xmlns:ds="http://schemas.openxmlformats.org/officeDocument/2006/customXml" ds:itemID="{94DAD65D-89FD-4D1E-B382-F6A5469AB38E}">
  <ds:schemaRefs>
    <ds:schemaRef ds:uri="http://schemas.microsoft.com/sharepoint/v3/contenttype/forms"/>
  </ds:schemaRefs>
</ds:datastoreItem>
</file>

<file path=customXml/itemProps3.xml><?xml version="1.0" encoding="utf-8"?>
<ds:datastoreItem xmlns:ds="http://schemas.openxmlformats.org/officeDocument/2006/customXml" ds:itemID="{CED579FB-3E31-4BBF-BDE5-6482C8799F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f8c6f5-7bcd-41a7-b8e5-a936c67fb4b9"/>
    <ds:schemaRef ds:uri="e3938e53-0a01-4a4f-b8cf-9725ed08b4e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UK PPT Blue Standard</Template>
  <TotalTime>638</TotalTime>
  <Words>1902</Words>
  <Application>Microsoft Office PowerPoint</Application>
  <PresentationFormat>On-screen Show (4:3)</PresentationFormat>
  <Paragraphs>253</Paragraphs>
  <Slides>27</Slides>
  <Notes>19</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UK Primary Gray Standard</vt:lpstr>
      <vt:lpstr>Utility Carts Safe Use and Handling</vt:lpstr>
      <vt:lpstr>Training Objectives</vt:lpstr>
      <vt:lpstr>UK Policy for Operating a Cart</vt:lpstr>
      <vt:lpstr>UK Policy for Operating a Cart</vt:lpstr>
      <vt:lpstr>UK Policy for Operating a Cart</vt:lpstr>
      <vt:lpstr>Types of Utility Carts</vt:lpstr>
      <vt:lpstr>Types of Utility Carts</vt:lpstr>
      <vt:lpstr>Equipment Standards</vt:lpstr>
      <vt:lpstr>Pre-Trip Inspection</vt:lpstr>
      <vt:lpstr>Cart Operation</vt:lpstr>
      <vt:lpstr>Cart Operation</vt:lpstr>
      <vt:lpstr>Cart Operation</vt:lpstr>
      <vt:lpstr>Cart Operation </vt:lpstr>
      <vt:lpstr>Transporting Materials</vt:lpstr>
      <vt:lpstr>Leaving the Vehicle Unattended</vt:lpstr>
      <vt:lpstr>Accident Reporting</vt:lpstr>
      <vt:lpstr>Cart Storage</vt:lpstr>
      <vt:lpstr>Cart Maintenance</vt:lpstr>
      <vt:lpstr>Recharging and Refueling</vt:lpstr>
      <vt:lpstr>Recharging and Refueling</vt:lpstr>
      <vt:lpstr>Review</vt:lpstr>
      <vt:lpstr>Quiz</vt:lpstr>
      <vt:lpstr>Quiz</vt:lpstr>
      <vt:lpstr>Quiz</vt:lpstr>
      <vt:lpstr>Quiz</vt:lpstr>
      <vt:lpstr>Questions????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Health and Safety</dc:title>
  <dc:creator>Laur, Michele</dc:creator>
  <cp:lastModifiedBy>Laur, Michele</cp:lastModifiedBy>
  <cp:revision>109</cp:revision>
  <dcterms:created xsi:type="dcterms:W3CDTF">2017-10-18T18:33:24Z</dcterms:created>
  <dcterms:modified xsi:type="dcterms:W3CDTF">2020-10-27T20:30:45Z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0x010100053DFDF1AB36B843A1A9C10976A785C2</vt:lpwstr>
  </property>
</Properties>
</file>